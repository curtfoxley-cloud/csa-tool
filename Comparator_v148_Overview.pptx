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554480"/>
            <a:ext cx="4937760" cy="4937760"/>
          </a:xfrm>
          <a:prstGeom prst="ellipse">
            <a:avLst/>
          </a:prstGeom>
          <a:solidFill>
            <a:srgbClr val="1E3A63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566160"/>
            <a:ext cx="2926080" cy="2926080"/>
          </a:xfrm>
          <a:prstGeom prst="ellipse">
            <a:avLst/>
          </a:prstGeom>
          <a:solidFill>
            <a:srgbClr val="1E3A63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868680"/>
            <a:ext cx="658368" cy="658368"/>
          </a:xfrm>
          <a:prstGeom prst="ellipse">
            <a:avLst/>
          </a:prstGeom>
          <a:solidFill>
            <a:srgbClr val="1E3A6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104" y="1039856"/>
            <a:ext cx="316017" cy="3160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1783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  ·  BUILD v148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66928" y="210312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 Status Accounting,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Design Intent to As-Built Reality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566928" y="3703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high-level overview for engineering managers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Comparator at a Glance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 is a </a:t>
            </a:r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Status Accounting (CSA) tool</a:t>
            </a:r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aerospace programs. It answers one question with evidence: </a:t>
            </a:r>
            <a:pPr indent="0" marL="0">
              <a:buNone/>
            </a:pPr>
            <a:r>
              <a:rPr lang="en-US" sz="1450" b="1" i="1" dirty="0">
                <a:solidFill>
                  <a:srgbClr val="1C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what we built match what we designed and planned?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993392"/>
            <a:ext cx="4041648" cy="1170432"/>
          </a:xfrm>
          <a:prstGeom prst="roundRect">
            <a:avLst>
              <a:gd name="adj" fmla="val 5469"/>
            </a:avLst>
          </a:prstGeom>
          <a:solidFill>
            <a:srgbClr val="F7F9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9224" y="2139696"/>
            <a:ext cx="402336" cy="402336"/>
          </a:xfrm>
          <a:prstGeom prst="ellipse">
            <a:avLst/>
          </a:prstGeom>
          <a:solidFill>
            <a:srgbClr val="EEF3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831" y="2244303"/>
            <a:ext cx="193121" cy="1931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61288" y="2112264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the three BOMs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61288" y="2377440"/>
            <a:ext cx="3236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Reconciles the Engineering (as-designed), Manufacturing (as-planned), and As-Built BOMs line by line, in any pairing.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90872" y="1993392"/>
            <a:ext cx="4041648" cy="1170432"/>
          </a:xfrm>
          <a:prstGeom prst="roundRect">
            <a:avLst>
              <a:gd name="adj" fmla="val 5469"/>
            </a:avLst>
          </a:prstGeom>
          <a:solidFill>
            <a:srgbClr val="F7F9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37176" y="2139696"/>
            <a:ext cx="402336" cy="402336"/>
          </a:xfrm>
          <a:prstGeom prst="ellipse">
            <a:avLst/>
          </a:prstGeom>
          <a:solidFill>
            <a:srgbClr val="EEF3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1783" y="2244303"/>
            <a:ext cx="193121" cy="1931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2112264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gaps into KPIs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349240" y="2377440"/>
            <a:ext cx="3236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dashboard of reconciliation percentages, missing items, quantity shortfalls, and open work orders — each with a click-through to the evidence.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02920" y="3310128"/>
            <a:ext cx="4041648" cy="1170432"/>
          </a:xfrm>
          <a:prstGeom prst="roundRect">
            <a:avLst>
              <a:gd name="adj" fmla="val 5469"/>
            </a:avLst>
          </a:prstGeom>
          <a:solidFill>
            <a:srgbClr val="F7F9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9224" y="3456432"/>
            <a:ext cx="402336" cy="402336"/>
          </a:xfrm>
          <a:prstGeom prst="ellipse">
            <a:avLst/>
          </a:prstGeom>
          <a:solidFill>
            <a:srgbClr val="EEF3F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831" y="3561039"/>
            <a:ext cx="193121" cy="19312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61288" y="3429000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humans in the loop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61288" y="3694176"/>
            <a:ext cx="3236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can adjudicate findings; every manual claim is tracked, color-coded, and carried into the reports.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690872" y="3310128"/>
            <a:ext cx="4041648" cy="1170432"/>
          </a:xfrm>
          <a:prstGeom prst="roundRect">
            <a:avLst>
              <a:gd name="adj" fmla="val 5469"/>
            </a:avLst>
          </a:prstGeom>
          <a:solidFill>
            <a:srgbClr val="F7F9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37176" y="3456432"/>
            <a:ext cx="402336" cy="402336"/>
          </a:xfrm>
          <a:prstGeom prst="ellipse">
            <a:avLst/>
          </a:prstGeom>
          <a:solidFill>
            <a:srgbClr val="EEF3F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1783" y="3561039"/>
            <a:ext cx="193121" cy="19312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49240" y="3429000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by design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349240" y="3694176"/>
            <a:ext cx="3236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Excel/HTML audit reports and a cryptographically frozen Certificate of Configuration Audit, aligned with EIA-649-1.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502920" y="459028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anywhere: </a:t>
            </a:r>
            <a:pPr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self-contained HTML file — no server, no install, no network. All data stays on the user's machine.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502920" y="48326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 v148 · Configuration Status Accounting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8321040" y="48326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BOMs, One Digital Thread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aerospace article lives in three records that must stay synchronized. When the thread between them breaks, the result is production errors, schedule slips, and failed audits.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265176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4088" y="1993392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EBOM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04088" y="2395728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AS-DESIGNED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04088" y="2670048"/>
            <a:ext cx="2249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Engineering's design intent — parts, structure, specs. Owned in PLM; changed only by ECO.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19272" y="1828800"/>
            <a:ext cx="265176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20440" y="1993392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C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MBOM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520440" y="2395728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AS-PLANNED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20440" y="2670048"/>
            <a:ext cx="2249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 plan — reorganized by manufacturing sequence, plus tooling and consumables. Owned in ERP/MES.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35624" y="1828800"/>
            <a:ext cx="265176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36792" y="1993392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ABOM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336792" y="2395728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AS-BUILT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36792" y="2670048"/>
            <a:ext cx="2249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went on the article — serials, substitutions, removals. The traceability record.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122676" y="2606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939028" y="2606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02920" y="3977640"/>
            <a:ext cx="8284464" cy="713232"/>
          </a:xfrm>
          <a:prstGeom prst="roundRect">
            <a:avLst>
              <a:gd name="adj" fmla="val 8974"/>
            </a:avLst>
          </a:prstGeom>
          <a:solidFill>
            <a:srgbClr val="EEF3F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" y="4096512"/>
            <a:ext cx="457200" cy="457200"/>
          </a:xfrm>
          <a:prstGeom prst="ellipse">
            <a:avLst/>
          </a:prstGeom>
          <a:solidFill>
            <a:srgbClr val="EEF3FA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15384"/>
            <a:ext cx="219456" cy="21945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280160" y="4087368"/>
            <a:ext cx="7360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Comparator's job: </a:t>
            </a:r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— item by item — that design intent flowed through the plan into the physical article, and surface exactly where it didn't.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02920" y="48326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 v148 · Configuration Status Accounting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8321040" y="48326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Data Sources, One Picture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drag in standard Excel exports from existing systems — no data migration. Flexible column mapping absorbs different file layouts.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2651760" cy="841248"/>
          </a:xfrm>
          <a:prstGeom prst="roundRect">
            <a:avLst>
              <a:gd name="adj" fmla="val 7609"/>
            </a:avLst>
          </a:prstGeom>
          <a:solidFill>
            <a:srgbClr val="EEF3F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7512" y="1801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EBOM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67512" y="2057400"/>
            <a:ext cx="232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BOM — the as-designed baseline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19272" y="1691640"/>
            <a:ext cx="2651760" cy="841248"/>
          </a:xfrm>
          <a:prstGeom prst="roundRect">
            <a:avLst>
              <a:gd name="adj" fmla="val 7609"/>
            </a:avLst>
          </a:prstGeom>
          <a:solidFill>
            <a:srgbClr val="EEF3F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83864" y="1801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MBOM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83864" y="2057400"/>
            <a:ext cx="232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BOM — the as-planned structure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35624" y="1691640"/>
            <a:ext cx="2651760" cy="841248"/>
          </a:xfrm>
          <a:prstGeom prst="roundRect">
            <a:avLst>
              <a:gd name="adj" fmla="val 7609"/>
            </a:avLst>
          </a:prstGeom>
          <a:solidFill>
            <a:srgbClr val="EEF3F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0216" y="1801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00216" y="2057400"/>
            <a:ext cx="232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As-Built BOM — the physical configuration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2660904"/>
            <a:ext cx="265176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7512" y="27706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C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" y="3026664"/>
            <a:ext cx="232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Pedigree — DCN/ECN/ECR change history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19272" y="2660904"/>
            <a:ext cx="265176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83864" y="27706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C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483864" y="3026664"/>
            <a:ext cx="232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Installed/Removed Report — work-order actions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35624" y="2660904"/>
            <a:ext cx="265176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00216" y="27706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C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NCR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00216" y="3026664"/>
            <a:ext cx="232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Nonconformance Records — discrepancies &amp; dispositions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3630168"/>
            <a:ext cx="265176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67512" y="373989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C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67512" y="3995928"/>
            <a:ext cx="232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Items list — Acquirer-designated CIs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19272" y="3630168"/>
            <a:ext cx="265176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83864" y="373989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C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RFV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483864" y="3995928"/>
            <a:ext cx="232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for Variance — approved deviations/waivers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35624" y="3630168"/>
            <a:ext cx="265176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300216" y="373989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C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300216" y="3995928"/>
            <a:ext cx="232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Clearance Notices — conditional-use status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02920" y="461772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Shaded = </a:t>
            </a:r>
            <a:pPr indent="0" marL="0">
              <a:buNone/>
            </a:pPr>
            <a:r>
              <a:rPr lang="en-US" sz="1050" b="1" i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BOMs under comparison. </a:t>
            </a:r>
            <a:pPr indent="0" marL="0">
              <a:buNone/>
            </a:pPr>
            <a:r>
              <a:rPr lang="en-US" sz="105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six enrich results with change, quality, and variance context.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02920" y="48326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 v148 · Configuration Status Accounting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321040" y="48326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SELECTION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Comparison Modes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404164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472184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EBOM ↔ MBOM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04088" y="1783080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C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plan capture the design?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04088" y="2048256"/>
            <a:ext cx="3639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manufacturing plan covers every active design line before build.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90872" y="1325880"/>
            <a:ext cx="404164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472184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EBOM ↔ ABOM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892040" y="1783080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C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article embody the design?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92040" y="2048256"/>
            <a:ext cx="3639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as-designed vs. as-built check for delivery and audit.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788920"/>
            <a:ext cx="404164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04088" y="2935224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MBOM ↔ ABOM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04088" y="3246120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C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build follow the plan?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04088" y="3511296"/>
            <a:ext cx="3639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check — planned work vs. installed reality.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90872" y="2788920"/>
            <a:ext cx="4041648" cy="1298448"/>
          </a:xfrm>
          <a:prstGeom prst="roundRect">
            <a:avLst>
              <a:gd name="adj" fmla="val 4930"/>
            </a:avLst>
          </a:prstGeom>
          <a:solidFill>
            <a:srgbClr val="EEF3F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2935224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EBOM ↔ MBOM ↔ ABOM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892040" y="3246120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C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thread, end to end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92040" y="3511296"/>
            <a:ext cx="3639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legs at once: design → plan → article in a single dashboard.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3434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selection automatically enables the right upload zones and reconciliation logic — users can't run an invalid comparison.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8326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 v148 · Configuration Status Accounting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321040" y="48326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Independent Reconciliation Passes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 rarely sits at the same address in every BOM — manufacturing legitimately restructures the design tree. So every design line gets three chances to reconcile before it's called missing: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265176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2057400"/>
            <a:ext cx="457200" cy="45720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52728" y="213055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Match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26517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part under the same parent assembly, with quantities checked (as-built quantities are netted for removals and swaps).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19272" y="1874520"/>
            <a:ext cx="265176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02152" y="2057400"/>
            <a:ext cx="457200" cy="457200"/>
          </a:xfrm>
          <a:prstGeom prst="ellipse">
            <a:avLst/>
          </a:prstGeom>
          <a:solidFill>
            <a:srgbClr val="1C7C74"/>
          </a:solidFill>
          <a:ln/>
        </p:spPr>
      </p:sp>
      <p:sp>
        <p:nvSpPr>
          <p:cNvPr id="12" name="Text 10"/>
          <p:cNvSpPr/>
          <p:nvPr/>
        </p:nvSpPr>
        <p:spPr>
          <a:xfrm>
            <a:off x="3502152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069080" y="213055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Used-On Match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502152" y="26517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appears as a parent assembly in the target BOM — it's there, just serving as a higher-level assembly.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35624" y="1874520"/>
            <a:ext cx="265176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18504" y="205740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6318504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85432" y="213055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Ancestor Coverage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318504" y="26517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reconciled parent assembly exists up the design tree — the item is covered by an assembly installed as a unit.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3858768"/>
            <a:ext cx="8284464" cy="804672"/>
          </a:xfrm>
          <a:prstGeom prst="roundRect">
            <a:avLst>
              <a:gd name="adj" fmla="val 7955"/>
            </a:avLst>
          </a:prstGeom>
          <a:solidFill>
            <a:srgbClr val="EEF3F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3232" y="3968496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eliminates a whole class of false alarms. A restructured assembly is recognized as </a:t>
            </a:r>
            <a:pPr indent="0" marL="0">
              <a:buNone/>
            </a:pPr>
            <a:r>
              <a:rPr lang="en-US" sz="1150" b="1" dirty="0">
                <a:solidFill>
                  <a:srgbClr val="1C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manufacturing behavior</a:t>
            </a:r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flagged as a defect — so the issues that remain are real. As-built checks also distinguish closed vs. still-open work orders.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8326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 v148 · Configuration Status Accounting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321040" y="48326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Line Gets an Honest Verdict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2120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517904"/>
            <a:ext cx="457200" cy="457200"/>
          </a:xfrm>
          <a:prstGeom prst="ellipse">
            <a:avLst/>
          </a:prstGeom>
          <a:solidFill>
            <a:srgbClr val="EEF3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36776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61872" y="149047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Reconciled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261872" y="1728216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match with quantity satisfied — including flexible-quantity items (substitutes, as-required).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502920" y="2231136"/>
            <a:ext cx="52120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" y="2377440"/>
            <a:ext cx="457200" cy="457200"/>
          </a:xfrm>
          <a:prstGeom prst="ellipse">
            <a:avLst/>
          </a:prstGeom>
          <a:solidFill>
            <a:srgbClr val="EEF3F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49631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61872" y="235000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261872" y="2587752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via a parent assembly or as a higher assembly itself — structurally accounted for.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502920" y="3090672"/>
            <a:ext cx="52120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8368" y="3236976"/>
            <a:ext cx="457200" cy="457200"/>
          </a:xfrm>
          <a:prstGeom prst="ellipse">
            <a:avLst/>
          </a:prstGeom>
          <a:solidFill>
            <a:srgbClr val="EEF3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355848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61872" y="320954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261872" y="344728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shortfall, item under a still-open work order, or effectively removed from the article.</a:t>
            </a:r>
            <a:endParaRPr lang="en-US" sz="980" dirty="0"/>
          </a:p>
        </p:txBody>
      </p:sp>
      <p:sp>
        <p:nvSpPr>
          <p:cNvPr id="19" name="Shape 14"/>
          <p:cNvSpPr/>
          <p:nvPr/>
        </p:nvSpPr>
        <p:spPr>
          <a:xfrm>
            <a:off x="502920" y="3950208"/>
            <a:ext cx="52120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" y="4096512"/>
            <a:ext cx="457200" cy="457200"/>
          </a:xfrm>
          <a:prstGeom prst="ellipse">
            <a:avLst/>
          </a:prstGeom>
          <a:solidFill>
            <a:srgbClr val="EEF3F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215384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61872" y="406908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4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1261872" y="430682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all three passes — genuinely absent from the target BOM by any path.</a:t>
            </a:r>
            <a:endParaRPr lang="en-US" sz="980" dirty="0"/>
          </a:p>
        </p:txBody>
      </p:sp>
      <p:sp>
        <p:nvSpPr>
          <p:cNvPr id="24" name="Shape 18"/>
          <p:cNvSpPr/>
          <p:nvPr/>
        </p:nvSpPr>
        <p:spPr>
          <a:xfrm>
            <a:off x="5897880" y="1371600"/>
            <a:ext cx="2889504" cy="3273552"/>
          </a:xfrm>
          <a:prstGeom prst="roundRect">
            <a:avLst>
              <a:gd name="adj" fmla="val 2215"/>
            </a:avLst>
          </a:prstGeom>
          <a:solidFill>
            <a:srgbClr val="13294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6126480" y="157276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QUANTITY, TWO WAYS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6126480" y="1847088"/>
            <a:ext cx="245059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Roll-Up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 installed quantity (adds minus removals) that drives statuses and KPIs.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Work Order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raw build record, aligned to its work order and action code — the evidence behind the net.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always shown, so no number ever needs to be taken on faith.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02920" y="48326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 v148 · Configuration Status Accounting</a:t>
            </a:r>
            <a:endParaRPr lang="en-US" sz="850" dirty="0"/>
          </a:p>
        </p:txBody>
      </p:sp>
      <p:sp>
        <p:nvSpPr>
          <p:cNvPr id="28" name="Text 22"/>
          <p:cNvSpPr/>
          <p:nvPr/>
        </p:nvSpPr>
        <p:spPr>
          <a:xfrm>
            <a:off x="8321040" y="48326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KPI Dashboard That Shows Its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457200" cy="457200"/>
          </a:xfrm>
          <a:prstGeom prst="ellipse">
            <a:avLst/>
          </a:prstGeom>
          <a:solidFill>
            <a:srgbClr val="EEF3F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44475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30759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percentages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43000" y="1563624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Direct-match and any-path reconciliation rates per comparison leg — the numbers to report upward.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2121408"/>
            <a:ext cx="457200" cy="457200"/>
          </a:xfrm>
          <a:prstGeom prst="ellipse">
            <a:avLst/>
          </a:prstGeom>
          <a:solidFill>
            <a:srgbClr val="EEF3F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240280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210312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Click-through evidence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143000" y="235915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clickable KPI card opens a drill-down listing the exact line items behind the count, with type-to-filter and one-click Excel export.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02920" y="2916936"/>
            <a:ext cx="457200" cy="457200"/>
          </a:xfrm>
          <a:prstGeom prst="ellipse">
            <a:avLst/>
          </a:prstGeom>
          <a:solidFill>
            <a:srgbClr val="EEF3F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035808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289864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scope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143000" y="31546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KPI counts over the same active scope — reference items, collectors, and bulk material are excluded uniformly, so cards are always comparable.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02920" y="3712464"/>
            <a:ext cx="457200" cy="457200"/>
          </a:xfrm>
          <a:prstGeom prst="ellipse">
            <a:avLst/>
          </a:prstGeom>
          <a:solidFill>
            <a:srgbClr val="EEF3FA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831336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43000" y="369417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charts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143000" y="395020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Work-order status roll-up, NCR cause codes, and a coverage funnel from raw lines to fully reconciled.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02920" y="4526280"/>
            <a:ext cx="8284464" cy="384048"/>
          </a:xfrm>
          <a:prstGeom prst="roundRect">
            <a:avLst>
              <a:gd name="adj" fmla="val 16667"/>
            </a:avLst>
          </a:prstGeom>
          <a:solidFill>
            <a:srgbClr val="EEF3F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731520" y="4562856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and drill-down always agree: same count, same scope, same color language.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502920" y="48326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 v148 · Configuration Status Accounting</a:t>
            </a:r>
            <a:endParaRPr lang="en-US" sz="850" dirty="0"/>
          </a:p>
        </p:txBody>
      </p:sp>
      <p:sp>
        <p:nvSpPr>
          <p:cNvPr id="23" name="Text 17"/>
          <p:cNvSpPr/>
          <p:nvPr/>
        </p:nvSpPr>
        <p:spPr>
          <a:xfrm>
            <a:off x="8321040" y="48326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JUDGMENT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SME Adjudication — Tracked, Not Buried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can't know everything. When a subject-matter expert confirms an item is actually reconciled — via an NCR disposition, a linked work order, or direct knowledge — they record a claim instead of editing data.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26517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2084832"/>
            <a:ext cx="384048" cy="384048"/>
          </a:xfrm>
          <a:prstGeom prst="ellipse">
            <a:avLst/>
          </a:prstGeom>
          <a:solidFill>
            <a:srgbClr val="6B4E9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61288" y="21396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57860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enters a claim: what's resolved, how, and the linking evidence (WO, NCR, CI trace).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19272" y="1920240"/>
            <a:ext cx="26517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02152" y="2084832"/>
            <a:ext cx="384048" cy="384048"/>
          </a:xfrm>
          <a:prstGeom prst="ellipse">
            <a:avLst/>
          </a:prstGeom>
          <a:solidFill>
            <a:srgbClr val="6B4E9B"/>
          </a:solidFill>
          <a:ln/>
        </p:spPr>
      </p:sp>
      <p:sp>
        <p:nvSpPr>
          <p:cNvPr id="12" name="Text 10"/>
          <p:cNvSpPr/>
          <p:nvPr/>
        </p:nvSpPr>
        <p:spPr>
          <a:xfrm>
            <a:off x="3502152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977640" y="21396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02152" y="257860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overlay the computed results. The raw machine results are never modified.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35624" y="1920240"/>
            <a:ext cx="2651760" cy="1417320"/>
          </a:xfrm>
          <a:prstGeom prst="roundRect">
            <a:avLst>
              <a:gd name="adj" fmla="val 4516"/>
            </a:avLst>
          </a:prstGeom>
          <a:solidFill>
            <a:srgbClr val="F3EFF9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18504" y="2084832"/>
            <a:ext cx="384048" cy="384048"/>
          </a:xfrm>
          <a:prstGeom prst="ellipse">
            <a:avLst/>
          </a:prstGeom>
          <a:solidFill>
            <a:srgbClr val="6B4E9B"/>
          </a:solidFill>
          <a:ln/>
        </p:spPr>
      </p:sp>
      <p:sp>
        <p:nvSpPr>
          <p:cNvPr id="17" name="Text 15"/>
          <p:cNvSpPr/>
          <p:nvPr/>
        </p:nvSpPr>
        <p:spPr>
          <a:xfrm>
            <a:off x="6318504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93992" y="21396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Everywhere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18504" y="257860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Adjudicated items count as reconciled in every KPI, report, and export — always flagged as manual.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3584448"/>
            <a:ext cx="8284464" cy="1005840"/>
          </a:xfrm>
          <a:prstGeom prst="roundRect">
            <a:avLst>
              <a:gd name="adj" fmla="val 6364"/>
            </a:avLst>
          </a:prstGeom>
          <a:solidFill>
            <a:srgbClr val="F7F9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" y="3767328"/>
            <a:ext cx="457200" cy="457200"/>
          </a:xfrm>
          <a:prstGeom prst="ellipse">
            <a:avLst/>
          </a:prstGeom>
          <a:solidFill>
            <a:srgbClr val="F3EFF9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886200"/>
            <a:ext cx="219456" cy="21945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280160" y="3694176"/>
            <a:ext cx="7360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4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is sacred.  </a:t>
            </a:r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judgments are shown in a dedicated purple, tagged “Manual SME” with the adjudicator's name, and separated into their own report sheets. An auditor can always distinguish what the machine found from what a human decided.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02920" y="48326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 v148 · Configuration Status Accounting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8321040" y="48326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ITEMS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 Traceability &amp; Variance Coverage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Acquirer-designated Configuration Items — the contractually controlled items — Comparator builds a full CSA pedigree: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8284464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874520"/>
            <a:ext cx="475488" cy="475488"/>
          </a:xfrm>
          <a:prstGeom prst="ellipse">
            <a:avLst/>
          </a:prstGeom>
          <a:solidFill>
            <a:srgbClr val="EEF3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995" y="1998147"/>
            <a:ext cx="228234" cy="22823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82880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Embodiment status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325880" y="2093976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each CI physically in the build records — directly, as an assembly, or via a higher parent? Counted per distinct CI with the same three-pass rigor.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02920" y="2660904"/>
            <a:ext cx="8284464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" y="2843784"/>
            <a:ext cx="475488" cy="475488"/>
          </a:xfrm>
          <a:prstGeom prst="ellipse">
            <a:avLst/>
          </a:prstGeom>
          <a:solidFill>
            <a:srgbClr val="EEF3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995" y="2967411"/>
            <a:ext cx="228234" cy="22823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25880" y="279806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linkage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325880" y="306324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joined to their nonconformance records (open vs. closed dispositions), including SME-traced links the automation can't see.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02920" y="3630168"/>
            <a:ext cx="8284464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8368" y="3813048"/>
            <a:ext cx="475488" cy="475488"/>
          </a:xfrm>
          <a:prstGeom prst="ellipse">
            <a:avLst/>
          </a:prstGeom>
          <a:solidFill>
            <a:srgbClr val="EEF3F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995" y="3936675"/>
            <a:ext cx="228234" cy="22823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376732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coverage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325880" y="403250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CIs are covered by approved Requests for Variance — matched directly, via NCR disposition, or via work order.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502920" y="459028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</a:t>
            </a:r>
            <a:pPr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multi-sheet CI Traceability Report plus a per-CI As-Built Records Guide — a one-page flag matrix indexing where each CI's evidence lives.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502920" y="48326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 v148 · Configuration Status Accounting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8321040" y="48326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for Every Stakeholder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4041648" cy="1024128"/>
          </a:xfrm>
          <a:prstGeom prst="roundRect">
            <a:avLst>
              <a:gd name="adj" fmla="val 6250"/>
            </a:avLst>
          </a:prstGeom>
          <a:solidFill>
            <a:srgbClr val="F7F9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389888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Comparison Results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85800" y="1636776"/>
            <a:ext cx="3675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 / CSV / HTML — every line, every leg, with per-work-order detail fanned to filterable rows.</a:t>
            </a:r>
            <a:endParaRPr lang="en-US" sz="930" dirty="0"/>
          </a:p>
        </p:txBody>
      </p:sp>
      <p:sp>
        <p:nvSpPr>
          <p:cNvPr id="7" name="Text 5"/>
          <p:cNvSpPr/>
          <p:nvPr/>
        </p:nvSpPr>
        <p:spPr>
          <a:xfrm>
            <a:off x="685800" y="2093976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C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CM TEAMS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690872" y="1298448"/>
            <a:ext cx="4041648" cy="1024128"/>
          </a:xfrm>
          <a:prstGeom prst="roundRect">
            <a:avLst>
              <a:gd name="adj" fmla="val 6250"/>
            </a:avLst>
          </a:prstGeom>
          <a:solidFill>
            <a:srgbClr val="F7F9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73752" y="1389888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Traceability Report + Guide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873752" y="1636776"/>
            <a:ext cx="3675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CSA pedigree workbook and its per-CI index — the audit centerpiece.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4873752" y="2093976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C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AUDITORS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02920" y="2441448"/>
            <a:ext cx="4041648" cy="1024128"/>
          </a:xfrm>
          <a:prstGeom prst="roundRect">
            <a:avLst>
              <a:gd name="adj" fmla="val 6250"/>
            </a:avLst>
          </a:prstGeom>
          <a:solidFill>
            <a:srgbClr val="F7F9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2532888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Reports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5800" y="2779776"/>
            <a:ext cx="3675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Planned-Not-Installed and Unplanned-Not-Installed — two complementary lists that partition every gap in the thread.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685800" y="3236976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C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LEADS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90872" y="2441448"/>
            <a:ext cx="4041648" cy="1024128"/>
          </a:xfrm>
          <a:prstGeom prst="roundRect">
            <a:avLst>
              <a:gd name="adj" fmla="val 6250"/>
            </a:avLst>
          </a:prstGeom>
          <a:solidFill>
            <a:srgbClr val="F7F9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73752" y="2532888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Commitment List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73752" y="2779776"/>
            <a:ext cx="3675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ECNs whose entire design footprint is embodied — candidates ready for formal closure.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4873752" y="3236976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C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BOARDS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02920" y="3584448"/>
            <a:ext cx="4041648" cy="1024128"/>
          </a:xfrm>
          <a:prstGeom prst="roundRect">
            <a:avLst>
              <a:gd name="adj" fmla="val 6250"/>
            </a:avLst>
          </a:prstGeom>
          <a:solidFill>
            <a:srgbClr val="F7F9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" y="3675888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&amp; Clearance Reports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85800" y="3922776"/>
            <a:ext cx="3675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RFV coverage sheets and ACN embodiment status, including SME-linked matches.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685800" y="4379976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C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MRB / CM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90872" y="3584448"/>
            <a:ext cx="4041648" cy="1024128"/>
          </a:xfrm>
          <a:prstGeom prst="roundRect">
            <a:avLst>
              <a:gd name="adj" fmla="val 6250"/>
            </a:avLst>
          </a:prstGeom>
          <a:solidFill>
            <a:srgbClr val="F7F9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73752" y="3675888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File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73752" y="3922776"/>
            <a:ext cx="3675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working state — data, results, claims, mappings — saved to one file for hand-off or resumption.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4873752" y="4379976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C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02920" y="48326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 v148 · Configuration Status Accounting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321040" y="48326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Finalize &amp; Freeze: The Audit Certificate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938528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67512" y="16550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67512" y="2039112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7512" y="2313432"/>
            <a:ext cx="1609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comparisons, work the drill-downs, record adjudications.</a:t>
            </a:r>
            <a:endParaRPr lang="en-US" sz="980" dirty="0"/>
          </a:p>
        </p:txBody>
      </p:sp>
      <p:sp>
        <p:nvSpPr>
          <p:cNvPr id="8" name="Text 6"/>
          <p:cNvSpPr/>
          <p:nvPr/>
        </p:nvSpPr>
        <p:spPr>
          <a:xfrm>
            <a:off x="2441448" y="2075688"/>
            <a:ext cx="219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642616" y="1508760"/>
            <a:ext cx="1938528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07208" y="16550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807208" y="2039112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07208" y="2313432"/>
            <a:ext cx="1609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the session: auditor name, timestamp, comparison mode.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4581144" y="2075688"/>
            <a:ext cx="219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782312" y="1508760"/>
            <a:ext cx="1938528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46904" y="16550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946904" y="2039112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46904" y="2313432"/>
            <a:ext cx="1609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SHA-256 hash covers raw results, effective results, and every claim.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6720840" y="2075688"/>
            <a:ext cx="219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922008" y="1508760"/>
            <a:ext cx="1938528" cy="1554480"/>
          </a:xfrm>
          <a:prstGeom prst="roundRect">
            <a:avLst>
              <a:gd name="adj" fmla="val 4118"/>
            </a:avLst>
          </a:prstGeom>
          <a:solidFill>
            <a:srgbClr val="EEF3F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086600" y="16550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086600" y="2039112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86600" y="2313432"/>
            <a:ext cx="1609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Certificate of Configuration Audit, aligned with EIA-649-1.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502920" y="3383280"/>
            <a:ext cx="8284464" cy="1143000"/>
          </a:xfrm>
          <a:prstGeom prst="roundRect">
            <a:avLst>
              <a:gd name="adj" fmla="val 5600"/>
            </a:avLst>
          </a:prstGeom>
          <a:solidFill>
            <a:srgbClr val="13294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13232" y="3621024"/>
            <a:ext cx="566928" cy="566928"/>
          </a:xfrm>
          <a:prstGeom prst="ellipse">
            <a:avLst/>
          </a:prstGeom>
          <a:solidFill>
            <a:srgbClr val="1E3A63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633" y="3768425"/>
            <a:ext cx="272125" cy="272125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463040" y="3529584"/>
            <a:ext cx="7178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by construction.  </a:t>
            </a:r>
            <a:pPr indent="0" marL="0">
              <a:buNone/>
            </a:pPr>
            <a:r>
              <a:rPr lang="en-US" sz="1150" dirty="0">
                <a:solidFill>
                  <a:srgbClr val="C9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frozen session disables further uploads and re-runs. Any change to the data, the results, or the adjudication record breaks the hash — so the certificate stands as durable evidence of exactly what was reviewed and decided.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502920" y="48326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 v148 · Configuration Status Accounting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8321040" y="48326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DEVELOPMENT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New: Builds v142 – v148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8284464" cy="621792"/>
          </a:xfrm>
          <a:prstGeom prst="roundRect">
            <a:avLst>
              <a:gd name="adj" fmla="val 10294"/>
            </a:avLst>
          </a:prstGeom>
          <a:solidFill>
            <a:srgbClr val="F7F9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37160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v142–v143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645920" y="135331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large sessions now just work — </a:t>
            </a:r>
            <a:pPr indent="0" marL="0">
              <a:buNone/>
            </a:pPr>
            <a:r>
              <a:rPr lang="en-US" sz="96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save and reload previously failed past ~0.5 GB (a browser string limit). Export is now chunked and import streams the file — a 562 MB field session that failed before now round-trips.</a:t>
            </a:r>
            <a:endParaRPr lang="en-US" sz="960" dirty="0"/>
          </a:p>
        </p:txBody>
      </p:sp>
      <p:sp>
        <p:nvSpPr>
          <p:cNvPr id="7" name="Shape 5"/>
          <p:cNvSpPr/>
          <p:nvPr/>
        </p:nvSpPr>
        <p:spPr>
          <a:xfrm>
            <a:off x="502920" y="1993392"/>
            <a:ext cx="8284464" cy="621792"/>
          </a:xfrm>
          <a:prstGeom prst="roundRect">
            <a:avLst>
              <a:gd name="adj" fmla="val 10294"/>
            </a:avLst>
          </a:prstGeom>
          <a:solidFill>
            <a:srgbClr val="F7F9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" y="2066544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v144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645920" y="2048256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per-work-order detail in exports — </a:t>
            </a:r>
            <a:pPr indent="0" marL="0">
              <a:buNone/>
            </a:pPr>
            <a:r>
              <a:rPr lang="en-US" sz="96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Parent-assembly (used-on) work orders now fan to individual filterable rows in the Excel/CSV exports, matching what the dashboard has always shown.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502920" y="2688336"/>
            <a:ext cx="8284464" cy="621792"/>
          </a:xfrm>
          <a:prstGeom prst="roundRect">
            <a:avLst>
              <a:gd name="adj" fmla="val 10294"/>
            </a:avLst>
          </a:prstGeom>
          <a:solidFill>
            <a:srgbClr val="F7F9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" y="2761488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v145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645920" y="2743200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back to the source spreadsheet — </a:t>
            </a:r>
            <a:pPr indent="0" marL="0">
              <a:buNone/>
            </a:pPr>
            <a:r>
              <a:rPr lang="en-US" sz="96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row now carries its originating EBOM line number(s); merged duplicate design lines are explicitly identified, and new export columns make row fanning impossible to misread as quantities.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502920" y="3383280"/>
            <a:ext cx="8284464" cy="621792"/>
          </a:xfrm>
          <a:prstGeom prst="roundRect">
            <a:avLst>
              <a:gd name="adj" fmla="val 10294"/>
            </a:avLst>
          </a:prstGeom>
          <a:solidFill>
            <a:srgbClr val="F7F9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" y="3456432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v146–v147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645920" y="3438144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release validation — </a:t>
            </a:r>
            <a:pPr indent="0" marL="0">
              <a:buNone/>
            </a:pPr>
            <a:r>
              <a:rPr lang="en-US" sz="96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hotfixes (a worker-scope omission and a misplaced button) each closed with a permanent automated check, so the same class of defect can't ship again.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502920" y="4078224"/>
            <a:ext cx="8284464" cy="621792"/>
          </a:xfrm>
          <a:prstGeom prst="roundRect">
            <a:avLst>
              <a:gd name="adj" fmla="val 10294"/>
            </a:avLst>
          </a:prstGeom>
          <a:solidFill>
            <a:srgbClr val="F7F9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" y="4151376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v148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645920" y="4133088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top-level assembly is now visible — </a:t>
            </a:r>
            <a:pPr indent="0" marL="0">
              <a:buNone/>
            </a:pPr>
            <a:r>
              <a:rPr lang="en-US" sz="96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apex row of the design tree — previously never shown due to a structural quirk — now appears in the summary as a clearly badged structural row.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502920" y="48326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 v148 · Configuration Status Accounting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321040" y="48326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 CAN TRUST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Discipline Behind the Tool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4041648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54480"/>
            <a:ext cx="438912" cy="438912"/>
          </a:xfrm>
          <a:prstGeom prst="ellipse">
            <a:avLst/>
          </a:prstGeom>
          <a:solidFill>
            <a:srgbClr val="EEF3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917" y="1668597"/>
            <a:ext cx="210678" cy="21067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71016" y="1572768"/>
            <a:ext cx="3127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 &amp; self-contained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04088" y="2029968"/>
            <a:ext cx="36393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HTML file with everything inlined. Runs in a browser with zero network access — nothing leaves the machine. Well-suited to controlled environments.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4690872" y="1371600"/>
            <a:ext cx="4041648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73752" y="1554480"/>
            <a:ext cx="438912" cy="438912"/>
          </a:xfrm>
          <a:prstGeom prst="ellipse">
            <a:avLst/>
          </a:prstGeom>
          <a:solidFill>
            <a:srgbClr val="EEF3F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869" y="1668597"/>
            <a:ext cx="210678" cy="21067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58968" y="1572768"/>
            <a:ext cx="3127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raw results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892040" y="2029968"/>
            <a:ext cx="36393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results are never edited; human input is layered on top and reversible. Reprocessing always starts from the untouched original.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502920" y="2926080"/>
            <a:ext cx="4041648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5800" y="3108960"/>
            <a:ext cx="438912" cy="438912"/>
          </a:xfrm>
          <a:prstGeom prst="ellipse">
            <a:avLst/>
          </a:prstGeom>
          <a:solidFill>
            <a:srgbClr val="EEF3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917" y="3223077"/>
            <a:ext cx="210678" cy="21067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71016" y="3127248"/>
            <a:ext cx="3127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strict visual contract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704088" y="3584448"/>
            <a:ext cx="36393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 and glyphs have fixed meanings tool-wide (e.g., purple = manual judgment, teal = variance) — enforced by automated checks, so the UI never lies.</a:t>
            </a:r>
            <a:endParaRPr lang="en-US" sz="980" dirty="0"/>
          </a:p>
        </p:txBody>
      </p:sp>
      <p:sp>
        <p:nvSpPr>
          <p:cNvPr id="19" name="Shape 14"/>
          <p:cNvSpPr/>
          <p:nvPr/>
        </p:nvSpPr>
        <p:spPr>
          <a:xfrm>
            <a:off x="4690872" y="2926080"/>
            <a:ext cx="4041648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73752" y="3108960"/>
            <a:ext cx="438912" cy="438912"/>
          </a:xfrm>
          <a:prstGeom prst="ellipse">
            <a:avLst/>
          </a:prstGeom>
          <a:solidFill>
            <a:srgbClr val="EEF3F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7869" y="3223077"/>
            <a:ext cx="210678" cy="21067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58968" y="3127248"/>
            <a:ext cx="3127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like flight software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892040" y="3584448"/>
            <a:ext cx="36393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build is validated with syntax checks, behavioral tests against stub data, and — since v146 — a harness that executes the real comparison engine end-to-end.</a:t>
            </a:r>
            <a:endParaRPr lang="en-US" sz="980" dirty="0"/>
          </a:p>
        </p:txBody>
      </p:sp>
      <p:sp>
        <p:nvSpPr>
          <p:cNvPr id="24" name="Text 18"/>
          <p:cNvSpPr/>
          <p:nvPr/>
        </p:nvSpPr>
        <p:spPr>
          <a:xfrm>
            <a:off x="502920" y="48326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 v148 · Configuration Status Accounting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8321040" y="48326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108960"/>
            <a:ext cx="4206240" cy="4206240"/>
          </a:xfrm>
          <a:prstGeom prst="ellipse">
            <a:avLst/>
          </a:prstGeom>
          <a:solidFill>
            <a:srgbClr val="1E3A63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-1280160"/>
            <a:ext cx="3291840" cy="3291840"/>
          </a:xfrm>
          <a:prstGeom prst="ellipse">
            <a:avLst/>
          </a:prstGeom>
          <a:solidFill>
            <a:srgbClr val="1E3A63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566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896112"/>
            <a:ext cx="8138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tool that proves the design,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plan, and the article agree.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2240280"/>
            <a:ext cx="3913632" cy="896112"/>
          </a:xfrm>
          <a:prstGeom prst="roundRect">
            <a:avLst>
              <a:gd name="adj" fmla="val 6122"/>
            </a:avLst>
          </a:prstGeom>
          <a:solidFill>
            <a:srgbClr val="1E3A63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350008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false alarms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" y="2606040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Three-pass logic and uniform scoping mean flagged issues are real issues.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2240280"/>
            <a:ext cx="3913632" cy="896112"/>
          </a:xfrm>
          <a:prstGeom prst="roundRect">
            <a:avLst>
              <a:gd name="adj" fmla="val 6122"/>
            </a:avLst>
          </a:prstGeom>
          <a:solidFill>
            <a:srgbClr val="1E3A63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2350008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audits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46320" y="2606040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Evidence-linked KPIs, one-click reports, and a hash-sealed certificate.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3282696"/>
            <a:ext cx="3913632" cy="896112"/>
          </a:xfrm>
          <a:prstGeom prst="roundRect">
            <a:avLst>
              <a:gd name="adj" fmla="val 6122"/>
            </a:avLst>
          </a:prstGeom>
          <a:solidFill>
            <a:srgbClr val="1E3A63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392424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hidden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49808" y="3648456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findings and human judgments are always distinguishable.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3282696"/>
            <a:ext cx="3913632" cy="896112"/>
          </a:xfrm>
          <a:prstGeom prst="roundRect">
            <a:avLst>
              <a:gd name="adj" fmla="val 6122"/>
            </a:avLst>
          </a:prstGeom>
          <a:solidFill>
            <a:srgbClr val="1E3A63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3392424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IT footprint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846320" y="3648456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offline file — deployable anywhere a browser runs.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4617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 v148 · July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Comparator v148 — High-Level Overview</dc:title>
  <dc:subject>PptxGenJS Presentation</dc:subject>
  <dc:creator>PptxGenJS</dc:creator>
  <cp:lastModifiedBy>PptxGenJS</cp:lastModifiedBy>
  <cp:revision>1</cp:revision>
  <dcterms:created xsi:type="dcterms:W3CDTF">2026-07-09T13:39:25Z</dcterms:created>
  <dcterms:modified xsi:type="dcterms:W3CDTF">2026-07-09T13:39:25Z</dcterms:modified>
</cp:coreProperties>
</file>