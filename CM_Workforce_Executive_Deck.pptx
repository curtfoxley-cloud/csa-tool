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00000"/>
          </a:solidFill>
          <a:ln w="12700">
            <a:solidFill>
              <a:srgbClr val="C00000"/>
            </a:solidFill>
            <a:prstDash val="solid"/>
          </a:ln>
        </p:spPr>
      </p:sp>
      <p:sp>
        <p:nvSpPr>
          <p:cNvPr id="3" name="Text 1"/>
          <p:cNvSpPr/>
          <p:nvPr/>
        </p:nvSpPr>
        <p:spPr>
          <a:xfrm>
            <a:off x="914400" y="1463040"/>
            <a:ext cx="10058400" cy="365760"/>
          </a:xfrm>
          <a:prstGeom prst="rect">
            <a:avLst/>
          </a:prstGeom>
          <a:noFill/>
          <a:ln/>
        </p:spPr>
        <p:txBody>
          <a:bodyPr wrap="square" lIns="0" tIns="0" rIns="0" bIns="0" rtlCol="0" anchor="ctr"/>
          <a:lstStyle/>
          <a:p>
            <a:pPr indent="0" marL="0">
              <a:buNone/>
            </a:pPr>
            <a:r>
              <a:rPr lang="en-US" sz="1400" b="1" spc="800" kern="0" dirty="0">
                <a:solidFill>
                  <a:srgbClr val="BDD7EE"/>
                </a:solidFill>
                <a:latin typeface="Calibri" pitchFamily="34" charset="0"/>
                <a:ea typeface="Calibri" pitchFamily="34" charset="-122"/>
                <a:cs typeface="Calibri" pitchFamily="34" charset="-120"/>
              </a:rPr>
              <a:t>EXECUTIVE BRIEFING</a:t>
            </a:r>
            <a:endParaRPr lang="en-US" sz="1400" dirty="0"/>
          </a:p>
        </p:txBody>
      </p:sp>
      <p:sp>
        <p:nvSpPr>
          <p:cNvPr id="4" name="Text 2"/>
          <p:cNvSpPr/>
          <p:nvPr/>
        </p:nvSpPr>
        <p:spPr>
          <a:xfrm>
            <a:off x="914400" y="1920240"/>
            <a:ext cx="10972800" cy="91440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Configuration Management</a:t>
            </a:r>
            <a:endParaRPr lang="en-US" sz="4800" dirty="0"/>
          </a:p>
        </p:txBody>
      </p:sp>
      <p:sp>
        <p:nvSpPr>
          <p:cNvPr id="5" name="Text 3"/>
          <p:cNvSpPr/>
          <p:nvPr/>
        </p:nvSpPr>
        <p:spPr>
          <a:xfrm>
            <a:off x="914400" y="2743200"/>
            <a:ext cx="10972800" cy="914400"/>
          </a:xfrm>
          <a:prstGeom prst="rect">
            <a:avLst/>
          </a:prstGeom>
          <a:noFill/>
          <a:ln/>
        </p:spPr>
        <p:txBody>
          <a:bodyPr wrap="square" lIns="0" tIns="0" rIns="0" bIns="0"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Workforce Competency Analysis</a:t>
            </a:r>
            <a:endParaRPr lang="en-US" sz="4800" dirty="0"/>
          </a:p>
        </p:txBody>
      </p:sp>
      <p:sp>
        <p:nvSpPr>
          <p:cNvPr id="6" name="Text 4"/>
          <p:cNvSpPr/>
          <p:nvPr/>
        </p:nvSpPr>
        <p:spPr>
          <a:xfrm>
            <a:off x="914400" y="3931920"/>
            <a:ext cx="10058400" cy="457200"/>
          </a:xfrm>
          <a:prstGeom prst="rect">
            <a:avLst/>
          </a:prstGeom>
          <a:noFill/>
          <a:ln/>
        </p:spPr>
        <p:txBody>
          <a:bodyPr wrap="square" lIns="0" tIns="0" rIns="0" bIns="0" rtlCol="0" anchor="ctr"/>
          <a:lstStyle/>
          <a:p>
            <a:pPr indent="0" marL="0">
              <a:buNone/>
            </a:pPr>
            <a:r>
              <a:rPr lang="en-US" sz="1800" i="1" dirty="0">
                <a:solidFill>
                  <a:srgbClr val="BDD7EE"/>
                </a:solidFill>
                <a:latin typeface="Calibri" pitchFamily="34" charset="0"/>
                <a:ea typeface="Calibri" pitchFamily="34" charset="-122"/>
                <a:cs typeface="Calibri" pitchFamily="34" charset="-120"/>
              </a:rPr>
              <a:t>Aligning the CM Organization with the Requirements of EIA-649-1</a:t>
            </a:r>
            <a:endParaRPr lang="en-US" sz="1800" dirty="0"/>
          </a:p>
        </p:txBody>
      </p:sp>
      <p:sp>
        <p:nvSpPr>
          <p:cNvPr id="7" name="Shape 5"/>
          <p:cNvSpPr/>
          <p:nvPr/>
        </p:nvSpPr>
        <p:spPr>
          <a:xfrm>
            <a:off x="914400" y="5852160"/>
            <a:ext cx="3657600" cy="0"/>
          </a:xfrm>
          <a:prstGeom prst="line">
            <a:avLst/>
          </a:prstGeom>
          <a:noFill/>
          <a:ln w="25400">
            <a:solidFill>
              <a:srgbClr val="C00000"/>
            </a:solidFill>
            <a:prstDash val="solid"/>
          </a:ln>
        </p:spPr>
      </p:sp>
      <p:sp>
        <p:nvSpPr>
          <p:cNvPr id="8" name="Text 6"/>
          <p:cNvSpPr/>
          <p:nvPr/>
        </p:nvSpPr>
        <p:spPr>
          <a:xfrm>
            <a:off x="914400" y="5943600"/>
            <a:ext cx="100584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Prepared for: HR, Senior CM Leadership, Executive Leadership</a:t>
            </a:r>
            <a:endParaRPr lang="en-US" sz="1200" dirty="0"/>
          </a:p>
        </p:txBody>
      </p:sp>
      <p:sp>
        <p:nvSpPr>
          <p:cNvPr id="9" name="Text 7"/>
          <p:cNvSpPr/>
          <p:nvPr/>
        </p:nvSpPr>
        <p:spPr>
          <a:xfrm>
            <a:off x="914400" y="6217920"/>
            <a:ext cx="10058400" cy="27432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May 24,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200" b="1" spc="800" kern="0" dirty="0">
                <a:solidFill>
                  <a:srgbClr val="C00000"/>
                </a:solidFill>
                <a:latin typeface="Calibri" pitchFamily="34" charset="0"/>
                <a:ea typeface="Calibri" pitchFamily="34" charset="-122"/>
                <a:cs typeface="Calibri" pitchFamily="34" charset="-120"/>
              </a:rPr>
              <a:t>THE ASK</a:t>
            </a:r>
            <a:endParaRPr lang="en-US" sz="1200" dirty="0"/>
          </a:p>
        </p:txBody>
      </p:sp>
      <p:sp>
        <p:nvSpPr>
          <p:cNvPr id="3" name="Text 1"/>
          <p:cNvSpPr/>
          <p:nvPr/>
        </p:nvSpPr>
        <p:spPr>
          <a:xfrm>
            <a:off x="548640" y="777240"/>
            <a:ext cx="10972800" cy="640080"/>
          </a:xfrm>
          <a:prstGeom prst="rect">
            <a:avLst/>
          </a:prstGeom>
          <a:noFill/>
          <a:ln/>
        </p:spPr>
        <p:txBody>
          <a:bodyPr wrap="square" lIns="0" tIns="0" rIns="0" bIns="0" rtlCol="0" anchor="ctr"/>
          <a:lstStyle/>
          <a:p>
            <a:pPr indent="0" marL="0">
              <a:buNone/>
            </a:pPr>
            <a:r>
              <a:rPr lang="en-US" sz="3200" b="1" dirty="0">
                <a:solidFill>
                  <a:srgbClr val="1E2761"/>
                </a:solidFill>
                <a:latin typeface="Georgia" pitchFamily="34" charset="0"/>
                <a:ea typeface="Georgia" pitchFamily="34" charset="-122"/>
                <a:cs typeface="Georgia" pitchFamily="34" charset="-120"/>
              </a:rPr>
              <a:t>Restructure CM Hiring to Match Contractual Reality</a:t>
            </a:r>
            <a:endParaRPr lang="en-US" sz="3200" dirty="0"/>
          </a:p>
        </p:txBody>
      </p:sp>
      <p:sp>
        <p:nvSpPr>
          <p:cNvPr id="4" name="Shape 2"/>
          <p:cNvSpPr/>
          <p:nvPr/>
        </p:nvSpPr>
        <p:spPr>
          <a:xfrm>
            <a:off x="548640" y="1691640"/>
            <a:ext cx="11064240" cy="1371600"/>
          </a:xfrm>
          <a:prstGeom prst="rect">
            <a:avLst/>
          </a:prstGeom>
          <a:solidFill>
            <a:srgbClr val="F5F7FA"/>
          </a:solidFill>
          <a:ln w="12700">
            <a:solidFill>
              <a:srgbClr val="1E2761"/>
            </a:solidFill>
            <a:prstDash val="solid"/>
          </a:ln>
        </p:spPr>
      </p:sp>
      <p:sp>
        <p:nvSpPr>
          <p:cNvPr id="5" name="Shape 3"/>
          <p:cNvSpPr/>
          <p:nvPr/>
        </p:nvSpPr>
        <p:spPr>
          <a:xfrm>
            <a:off x="548640" y="1691640"/>
            <a:ext cx="91440" cy="1371600"/>
          </a:xfrm>
          <a:prstGeom prst="rect">
            <a:avLst/>
          </a:prstGeom>
          <a:solidFill>
            <a:srgbClr val="C00000"/>
          </a:solidFill>
          <a:ln w="12700">
            <a:solidFill>
              <a:srgbClr val="C00000"/>
            </a:solidFill>
            <a:prstDash val="solid"/>
          </a:ln>
        </p:spPr>
      </p:sp>
      <p:sp>
        <p:nvSpPr>
          <p:cNvPr id="6" name="Text 4"/>
          <p:cNvSpPr/>
          <p:nvPr/>
        </p:nvSpPr>
        <p:spPr>
          <a:xfrm>
            <a:off x="914400" y="1828800"/>
            <a:ext cx="10515600" cy="1097280"/>
          </a:xfrm>
          <a:prstGeom prst="rect">
            <a:avLst/>
          </a:prstGeom>
          <a:noFill/>
          <a:ln/>
        </p:spPr>
        <p:txBody>
          <a:bodyPr wrap="square" lIns="0" tIns="0" rIns="0" bIns="0"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Approve a four-tier CM workforce model </a:t>
            </a:r>
            <a:pPr indent="0" marL="0">
              <a:buNone/>
            </a:pPr>
            <a:r>
              <a:rPr lang="en-US" sz="1800" dirty="0">
                <a:solidFill>
                  <a:srgbClr val="1A1A1A"/>
                </a:solidFill>
                <a:latin typeface="Calibri" pitchFamily="34" charset="0"/>
                <a:ea typeface="Calibri" pitchFamily="34" charset="-122"/>
                <a:cs typeface="Calibri" pitchFamily="34" charset="-120"/>
              </a:rPr>
              <a:t>that requires a B.S. Engineering degree (or equivalent qualification) for technical CM roles, retains A.A.S. personnel in well-defined support roles, and recognizes non-traditional advanced degrees with demonstrated domain proximity.</a:t>
            </a:r>
            <a:endParaRPr lang="en-US" sz="1800" dirty="0"/>
          </a:p>
        </p:txBody>
      </p:sp>
      <p:sp>
        <p:nvSpPr>
          <p:cNvPr id="7" name="Shape 5"/>
          <p:cNvSpPr/>
          <p:nvPr/>
        </p:nvSpPr>
        <p:spPr>
          <a:xfrm>
            <a:off x="548640" y="3383280"/>
            <a:ext cx="5440680" cy="1417320"/>
          </a:xfrm>
          <a:prstGeom prst="rect">
            <a:avLst/>
          </a:prstGeom>
          <a:solidFill>
            <a:srgbClr val="FFFFFF"/>
          </a:solidFill>
          <a:ln w="12700">
            <a:solidFill>
              <a:srgbClr val="E2E8F0"/>
            </a:solidFill>
            <a:prstDash val="solid"/>
          </a:ln>
        </p:spPr>
      </p:sp>
      <p:sp>
        <p:nvSpPr>
          <p:cNvPr id="8" name="Shape 6"/>
          <p:cNvSpPr/>
          <p:nvPr/>
        </p:nvSpPr>
        <p:spPr>
          <a:xfrm>
            <a:off x="548640" y="3383280"/>
            <a:ext cx="73152" cy="1417320"/>
          </a:xfrm>
          <a:prstGeom prst="rect">
            <a:avLst/>
          </a:prstGeom>
          <a:solidFill>
            <a:srgbClr val="1E2761"/>
          </a:solidFill>
          <a:ln w="12700">
            <a:solidFill>
              <a:srgbClr val="1E2761"/>
            </a:solidFill>
            <a:prstDash val="solid"/>
          </a:ln>
        </p:spPr>
      </p:sp>
      <p:sp>
        <p:nvSpPr>
          <p:cNvPr id="9" name="Text 7"/>
          <p:cNvSpPr/>
          <p:nvPr/>
        </p:nvSpPr>
        <p:spPr>
          <a:xfrm>
            <a:off x="777240" y="3520440"/>
            <a:ext cx="5074920" cy="320040"/>
          </a:xfrm>
          <a:prstGeom prst="rect">
            <a:avLst/>
          </a:prstGeom>
          <a:noFill/>
          <a:ln/>
        </p:spPr>
        <p:txBody>
          <a:bodyPr wrap="square" lIns="0" tIns="0" rIns="0" bIns="0" rtlCol="0" anchor="ctr"/>
          <a:lstStyle/>
          <a:p>
            <a:pPr indent="0" marL="0">
              <a:buNone/>
            </a:pPr>
            <a:r>
              <a:rPr lang="en-US" sz="1400" b="1" spc="600" kern="0" dirty="0">
                <a:solidFill>
                  <a:srgbClr val="C00000"/>
                </a:solidFill>
                <a:latin typeface="Calibri" pitchFamily="34" charset="0"/>
                <a:ea typeface="Calibri" pitchFamily="34" charset="-122"/>
                <a:cs typeface="Calibri" pitchFamily="34" charset="-120"/>
              </a:rPr>
              <a:t>KEEP</a:t>
            </a:r>
            <a:endParaRPr lang="en-US" sz="1400" dirty="0"/>
          </a:p>
        </p:txBody>
      </p:sp>
      <p:sp>
        <p:nvSpPr>
          <p:cNvPr id="10" name="Text 8"/>
          <p:cNvSpPr/>
          <p:nvPr/>
        </p:nvSpPr>
        <p:spPr>
          <a:xfrm>
            <a:off x="777240" y="3886200"/>
            <a:ext cx="5074920" cy="822960"/>
          </a:xfrm>
          <a:prstGeom prst="rect">
            <a:avLst/>
          </a:prstGeom>
          <a:noFill/>
          <a:ln/>
        </p:spPr>
        <p:txBody>
          <a:bodyPr wrap="square" lIns="0" tIns="0" rIns="0" bIns="0" rtlCol="0" anchor="t"/>
          <a:lstStyle/>
          <a:p>
            <a:pPr indent="0" marL="0">
              <a:buNone/>
            </a:pPr>
            <a:r>
              <a:rPr lang="en-US" sz="1300" dirty="0">
                <a:solidFill>
                  <a:srgbClr val="1A1A1A"/>
                </a:solidFill>
                <a:latin typeface="Calibri" pitchFamily="34" charset="0"/>
                <a:ea typeface="Calibri" pitchFamily="34" charset="-122"/>
                <a:cs typeface="Calibri" pitchFamily="34" charset="-120"/>
              </a:rPr>
              <a:t>Current A.A.S. workforce in defined Tier 1 (CM Technician) roles with a development pathway.</a:t>
            </a:r>
            <a:endParaRPr lang="en-US" sz="1300" dirty="0"/>
          </a:p>
        </p:txBody>
      </p:sp>
      <p:sp>
        <p:nvSpPr>
          <p:cNvPr id="11" name="Shape 9"/>
          <p:cNvSpPr/>
          <p:nvPr/>
        </p:nvSpPr>
        <p:spPr>
          <a:xfrm>
            <a:off x="6172200" y="3383280"/>
            <a:ext cx="5440680" cy="1417320"/>
          </a:xfrm>
          <a:prstGeom prst="rect">
            <a:avLst/>
          </a:prstGeom>
          <a:solidFill>
            <a:srgbClr val="FFFFFF"/>
          </a:solidFill>
          <a:ln w="12700">
            <a:solidFill>
              <a:srgbClr val="E2E8F0"/>
            </a:solidFill>
            <a:prstDash val="solid"/>
          </a:ln>
        </p:spPr>
      </p:sp>
      <p:sp>
        <p:nvSpPr>
          <p:cNvPr id="12" name="Shape 10"/>
          <p:cNvSpPr/>
          <p:nvPr/>
        </p:nvSpPr>
        <p:spPr>
          <a:xfrm>
            <a:off x="6172200" y="3383280"/>
            <a:ext cx="73152" cy="1417320"/>
          </a:xfrm>
          <a:prstGeom prst="rect">
            <a:avLst/>
          </a:prstGeom>
          <a:solidFill>
            <a:srgbClr val="1E2761"/>
          </a:solidFill>
          <a:ln w="12700">
            <a:solidFill>
              <a:srgbClr val="1E2761"/>
            </a:solidFill>
            <a:prstDash val="solid"/>
          </a:ln>
        </p:spPr>
      </p:sp>
      <p:sp>
        <p:nvSpPr>
          <p:cNvPr id="13" name="Text 11"/>
          <p:cNvSpPr/>
          <p:nvPr/>
        </p:nvSpPr>
        <p:spPr>
          <a:xfrm>
            <a:off x="6400800" y="3520440"/>
            <a:ext cx="5074920" cy="320040"/>
          </a:xfrm>
          <a:prstGeom prst="rect">
            <a:avLst/>
          </a:prstGeom>
          <a:noFill/>
          <a:ln/>
        </p:spPr>
        <p:txBody>
          <a:bodyPr wrap="square" lIns="0" tIns="0" rIns="0" bIns="0" rtlCol="0" anchor="ctr"/>
          <a:lstStyle/>
          <a:p>
            <a:pPr indent="0" marL="0">
              <a:buNone/>
            </a:pPr>
            <a:r>
              <a:rPr lang="en-US" sz="1400" b="1" spc="600" kern="0" dirty="0">
                <a:solidFill>
                  <a:srgbClr val="C00000"/>
                </a:solidFill>
                <a:latin typeface="Calibri" pitchFamily="34" charset="0"/>
                <a:ea typeface="Calibri" pitchFamily="34" charset="-122"/>
                <a:cs typeface="Calibri" pitchFamily="34" charset="-120"/>
              </a:rPr>
              <a:t>ADD</a:t>
            </a:r>
            <a:endParaRPr lang="en-US" sz="1400" dirty="0"/>
          </a:p>
        </p:txBody>
      </p:sp>
      <p:sp>
        <p:nvSpPr>
          <p:cNvPr id="14" name="Text 12"/>
          <p:cNvSpPr/>
          <p:nvPr/>
        </p:nvSpPr>
        <p:spPr>
          <a:xfrm>
            <a:off x="6400800" y="3886200"/>
            <a:ext cx="5074920" cy="822960"/>
          </a:xfrm>
          <a:prstGeom prst="rect">
            <a:avLst/>
          </a:prstGeom>
          <a:noFill/>
          <a:ln/>
        </p:spPr>
        <p:txBody>
          <a:bodyPr wrap="square" lIns="0" tIns="0" rIns="0" bIns="0" rtlCol="0" anchor="t"/>
          <a:lstStyle/>
          <a:p>
            <a:pPr indent="0" marL="0">
              <a:buNone/>
            </a:pPr>
            <a:r>
              <a:rPr lang="en-US" sz="1300" dirty="0">
                <a:solidFill>
                  <a:srgbClr val="1A1A1A"/>
                </a:solidFill>
                <a:latin typeface="Calibri" pitchFamily="34" charset="0"/>
                <a:ea typeface="Calibri" pitchFamily="34" charset="-122"/>
                <a:cs typeface="Calibri" pitchFamily="34" charset="-120"/>
              </a:rPr>
              <a:t>Tier 3 CM Engineer roles for CI selection, ECP classification, FCA/PCA leadership.</a:t>
            </a:r>
            <a:endParaRPr lang="en-US" sz="1300" dirty="0"/>
          </a:p>
        </p:txBody>
      </p:sp>
      <p:sp>
        <p:nvSpPr>
          <p:cNvPr id="15" name="Shape 13"/>
          <p:cNvSpPr/>
          <p:nvPr/>
        </p:nvSpPr>
        <p:spPr>
          <a:xfrm>
            <a:off x="548640" y="4937760"/>
            <a:ext cx="5440680" cy="1417320"/>
          </a:xfrm>
          <a:prstGeom prst="rect">
            <a:avLst/>
          </a:prstGeom>
          <a:solidFill>
            <a:srgbClr val="FFFFFF"/>
          </a:solidFill>
          <a:ln w="12700">
            <a:solidFill>
              <a:srgbClr val="E2E8F0"/>
            </a:solidFill>
            <a:prstDash val="solid"/>
          </a:ln>
        </p:spPr>
      </p:sp>
      <p:sp>
        <p:nvSpPr>
          <p:cNvPr id="16" name="Shape 14"/>
          <p:cNvSpPr/>
          <p:nvPr/>
        </p:nvSpPr>
        <p:spPr>
          <a:xfrm>
            <a:off x="548640" y="4937760"/>
            <a:ext cx="73152" cy="1417320"/>
          </a:xfrm>
          <a:prstGeom prst="rect">
            <a:avLst/>
          </a:prstGeom>
          <a:solidFill>
            <a:srgbClr val="1E2761"/>
          </a:solidFill>
          <a:ln w="12700">
            <a:solidFill>
              <a:srgbClr val="1E2761"/>
            </a:solidFill>
            <a:prstDash val="solid"/>
          </a:ln>
        </p:spPr>
      </p:sp>
      <p:sp>
        <p:nvSpPr>
          <p:cNvPr id="17" name="Text 15"/>
          <p:cNvSpPr/>
          <p:nvPr/>
        </p:nvSpPr>
        <p:spPr>
          <a:xfrm>
            <a:off x="777240" y="5074920"/>
            <a:ext cx="5074920" cy="320040"/>
          </a:xfrm>
          <a:prstGeom prst="rect">
            <a:avLst/>
          </a:prstGeom>
          <a:noFill/>
          <a:ln/>
        </p:spPr>
        <p:txBody>
          <a:bodyPr wrap="square" lIns="0" tIns="0" rIns="0" bIns="0" rtlCol="0" anchor="ctr"/>
          <a:lstStyle/>
          <a:p>
            <a:pPr indent="0" marL="0">
              <a:buNone/>
            </a:pPr>
            <a:r>
              <a:rPr lang="en-US" sz="1400" b="1" spc="600" kern="0" dirty="0">
                <a:solidFill>
                  <a:srgbClr val="C00000"/>
                </a:solidFill>
                <a:latin typeface="Calibri" pitchFamily="34" charset="0"/>
                <a:ea typeface="Calibri" pitchFamily="34" charset="-122"/>
                <a:cs typeface="Calibri" pitchFamily="34" charset="-120"/>
              </a:rPr>
              <a:t>CHANGE</a:t>
            </a:r>
            <a:endParaRPr lang="en-US" sz="1400" dirty="0"/>
          </a:p>
        </p:txBody>
      </p:sp>
      <p:sp>
        <p:nvSpPr>
          <p:cNvPr id="18" name="Text 16"/>
          <p:cNvSpPr/>
          <p:nvPr/>
        </p:nvSpPr>
        <p:spPr>
          <a:xfrm>
            <a:off x="777240" y="5440680"/>
            <a:ext cx="5074920" cy="822960"/>
          </a:xfrm>
          <a:prstGeom prst="rect">
            <a:avLst/>
          </a:prstGeom>
          <a:noFill/>
          <a:ln/>
        </p:spPr>
        <p:txBody>
          <a:bodyPr wrap="square" lIns="0" tIns="0" rIns="0" bIns="0" rtlCol="0" anchor="t"/>
          <a:lstStyle/>
          <a:p>
            <a:pPr indent="0" marL="0">
              <a:buNone/>
            </a:pPr>
            <a:r>
              <a:rPr lang="en-US" sz="1300" dirty="0">
                <a:solidFill>
                  <a:srgbClr val="1A1A1A"/>
                </a:solidFill>
                <a:latin typeface="Calibri" pitchFamily="34" charset="0"/>
                <a:ea typeface="Calibri" pitchFamily="34" charset="-122"/>
                <a:cs typeface="Calibri" pitchFamily="34" charset="-120"/>
              </a:rPr>
              <a:t>HR position descriptions to reflect the four-tier model and equivalency pathway.</a:t>
            </a:r>
            <a:endParaRPr lang="en-US" sz="1300" dirty="0"/>
          </a:p>
        </p:txBody>
      </p:sp>
      <p:sp>
        <p:nvSpPr>
          <p:cNvPr id="19" name="Shape 17"/>
          <p:cNvSpPr/>
          <p:nvPr/>
        </p:nvSpPr>
        <p:spPr>
          <a:xfrm>
            <a:off x="6172200" y="4937760"/>
            <a:ext cx="5440680" cy="1417320"/>
          </a:xfrm>
          <a:prstGeom prst="rect">
            <a:avLst/>
          </a:prstGeom>
          <a:solidFill>
            <a:srgbClr val="FFFFFF"/>
          </a:solidFill>
          <a:ln w="12700">
            <a:solidFill>
              <a:srgbClr val="E2E8F0"/>
            </a:solidFill>
            <a:prstDash val="solid"/>
          </a:ln>
        </p:spPr>
      </p:sp>
      <p:sp>
        <p:nvSpPr>
          <p:cNvPr id="20" name="Shape 18"/>
          <p:cNvSpPr/>
          <p:nvPr/>
        </p:nvSpPr>
        <p:spPr>
          <a:xfrm>
            <a:off x="6172200" y="4937760"/>
            <a:ext cx="73152" cy="1417320"/>
          </a:xfrm>
          <a:prstGeom prst="rect">
            <a:avLst/>
          </a:prstGeom>
          <a:solidFill>
            <a:srgbClr val="1E2761"/>
          </a:solidFill>
          <a:ln w="12700">
            <a:solidFill>
              <a:srgbClr val="1E2761"/>
            </a:solidFill>
            <a:prstDash val="solid"/>
          </a:ln>
        </p:spPr>
      </p:sp>
      <p:sp>
        <p:nvSpPr>
          <p:cNvPr id="21" name="Text 19"/>
          <p:cNvSpPr/>
          <p:nvPr/>
        </p:nvSpPr>
        <p:spPr>
          <a:xfrm>
            <a:off x="6400800" y="5074920"/>
            <a:ext cx="5074920" cy="320040"/>
          </a:xfrm>
          <a:prstGeom prst="rect">
            <a:avLst/>
          </a:prstGeom>
          <a:noFill/>
          <a:ln/>
        </p:spPr>
        <p:txBody>
          <a:bodyPr wrap="square" lIns="0" tIns="0" rIns="0" bIns="0" rtlCol="0" anchor="ctr"/>
          <a:lstStyle/>
          <a:p>
            <a:pPr indent="0" marL="0">
              <a:buNone/>
            </a:pPr>
            <a:r>
              <a:rPr lang="en-US" sz="1400" b="1" spc="600" kern="0" dirty="0">
                <a:solidFill>
                  <a:srgbClr val="C00000"/>
                </a:solidFill>
                <a:latin typeface="Calibri" pitchFamily="34" charset="0"/>
                <a:ea typeface="Calibri" pitchFamily="34" charset="-122"/>
                <a:cs typeface="Calibri" pitchFamily="34" charset="-120"/>
              </a:rPr>
              <a:t>INVEST</a:t>
            </a:r>
            <a:endParaRPr lang="en-US" sz="1400" dirty="0"/>
          </a:p>
        </p:txBody>
      </p:sp>
      <p:sp>
        <p:nvSpPr>
          <p:cNvPr id="22" name="Text 20"/>
          <p:cNvSpPr/>
          <p:nvPr/>
        </p:nvSpPr>
        <p:spPr>
          <a:xfrm>
            <a:off x="6400800" y="5440680"/>
            <a:ext cx="5074920" cy="822960"/>
          </a:xfrm>
          <a:prstGeom prst="rect">
            <a:avLst/>
          </a:prstGeom>
          <a:noFill/>
          <a:ln/>
        </p:spPr>
        <p:txBody>
          <a:bodyPr wrap="square" lIns="0" tIns="0" rIns="0" bIns="0" rtlCol="0" anchor="t"/>
          <a:lstStyle/>
          <a:p>
            <a:pPr indent="0" marL="0">
              <a:buNone/>
            </a:pPr>
            <a:r>
              <a:rPr lang="en-US" sz="1300" dirty="0">
                <a:solidFill>
                  <a:srgbClr val="1A1A1A"/>
                </a:solidFill>
                <a:latin typeface="Calibri" pitchFamily="34" charset="0"/>
                <a:ea typeface="Calibri" pitchFamily="34" charset="-122"/>
                <a:cs typeface="Calibri" pitchFamily="34" charset="-120"/>
              </a:rPr>
              <a:t>In a CSA automation tool to reduce manual reconciliation workload.</a:t>
            </a:r>
            <a:endParaRPr lang="en-US" sz="1300" dirty="0"/>
          </a:p>
        </p:txBody>
      </p:sp>
      <p:sp>
        <p:nvSpPr>
          <p:cNvPr id="23" name="Text 21"/>
          <p:cNvSpPr/>
          <p:nvPr/>
        </p:nvSpPr>
        <p:spPr>
          <a:xfrm>
            <a:off x="457200" y="6537960"/>
            <a:ext cx="822960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CM Workforce Competency Analysis  |  EIA-649-1</a:t>
            </a:r>
            <a:endParaRPr lang="en-US" sz="900" dirty="0"/>
          </a:p>
        </p:txBody>
      </p:sp>
      <p:sp>
        <p:nvSpPr>
          <p:cNvPr id="24" name="Text 22"/>
          <p:cNvSpPr/>
          <p:nvPr/>
        </p:nvSpPr>
        <p:spPr>
          <a:xfrm>
            <a:off x="10972800" y="6537960"/>
            <a:ext cx="7315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200" b="1" spc="800" kern="0" dirty="0">
                <a:solidFill>
                  <a:srgbClr val="C00000"/>
                </a:solidFill>
                <a:latin typeface="Calibri" pitchFamily="34" charset="0"/>
                <a:ea typeface="Calibri" pitchFamily="34" charset="-122"/>
                <a:cs typeface="Calibri" pitchFamily="34" charset="-120"/>
              </a:rPr>
              <a:t>THE STANDARD</a:t>
            </a:r>
            <a:endParaRPr lang="en-US" sz="1200" dirty="0"/>
          </a:p>
        </p:txBody>
      </p:sp>
      <p:sp>
        <p:nvSpPr>
          <p:cNvPr id="3" name="Text 1"/>
          <p:cNvSpPr/>
          <p:nvPr/>
        </p:nvSpPr>
        <p:spPr>
          <a:xfrm>
            <a:off x="548640" y="777240"/>
            <a:ext cx="10972800" cy="64008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EIA-649-1 Decomposes CM Into Five Functions</a:t>
            </a:r>
            <a:endParaRPr lang="en-US" sz="3000" dirty="0"/>
          </a:p>
        </p:txBody>
      </p:sp>
      <p:sp>
        <p:nvSpPr>
          <p:cNvPr id="4" name="Text 2"/>
          <p:cNvSpPr/>
          <p:nvPr/>
        </p:nvSpPr>
        <p:spPr>
          <a:xfrm>
            <a:off x="548640" y="1417320"/>
            <a:ext cx="10972800" cy="32004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Every requirement of the standard is allocated to one of these five — and to our CM organization.</a:t>
            </a:r>
            <a:endParaRPr lang="en-US" sz="1400" dirty="0"/>
          </a:p>
        </p:txBody>
      </p:sp>
      <p:sp>
        <p:nvSpPr>
          <p:cNvPr id="5" name="Shape 3"/>
          <p:cNvSpPr/>
          <p:nvPr/>
        </p:nvSpPr>
        <p:spPr>
          <a:xfrm>
            <a:off x="320040" y="2011680"/>
            <a:ext cx="2194560" cy="3657600"/>
          </a:xfrm>
          <a:prstGeom prst="rect">
            <a:avLst/>
          </a:prstGeom>
          <a:solidFill>
            <a:srgbClr val="F5F7FA"/>
          </a:solidFill>
          <a:ln w="12700">
            <a:solidFill>
              <a:srgbClr val="E2E8F0"/>
            </a:solidFill>
            <a:prstDash val="solid"/>
          </a:ln>
        </p:spPr>
      </p:sp>
      <p:sp>
        <p:nvSpPr>
          <p:cNvPr id="6" name="Shape 4"/>
          <p:cNvSpPr/>
          <p:nvPr/>
        </p:nvSpPr>
        <p:spPr>
          <a:xfrm>
            <a:off x="320040" y="2011680"/>
            <a:ext cx="2194560" cy="137160"/>
          </a:xfrm>
          <a:prstGeom prst="rect">
            <a:avLst/>
          </a:prstGeom>
          <a:solidFill>
            <a:srgbClr val="1E2761"/>
          </a:solidFill>
          <a:ln w="12700">
            <a:solidFill>
              <a:srgbClr val="1E2761"/>
            </a:solidFill>
            <a:prstDash val="solid"/>
          </a:ln>
        </p:spPr>
      </p:sp>
      <p:sp>
        <p:nvSpPr>
          <p:cNvPr id="7" name="Shape 5"/>
          <p:cNvSpPr/>
          <p:nvPr/>
        </p:nvSpPr>
        <p:spPr>
          <a:xfrm>
            <a:off x="868680" y="2377440"/>
            <a:ext cx="1097280" cy="1097280"/>
          </a:xfrm>
          <a:prstGeom prst="ellipse">
            <a:avLst/>
          </a:prstGeom>
          <a:solidFill>
            <a:srgbClr val="1E2761"/>
          </a:solidFill>
          <a:ln w="12700">
            <a:solidFill>
              <a:srgbClr val="1E2761"/>
            </a:solidFill>
            <a:prstDash val="solid"/>
          </a:ln>
        </p:spPr>
      </p:sp>
      <p:sp>
        <p:nvSpPr>
          <p:cNvPr id="8" name="Text 6"/>
          <p:cNvSpPr/>
          <p:nvPr/>
        </p:nvSpPr>
        <p:spPr>
          <a:xfrm>
            <a:off x="868680" y="2377440"/>
            <a:ext cx="1097280" cy="10972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§3.1</a:t>
            </a:r>
            <a:endParaRPr lang="en-US" sz="1800" dirty="0"/>
          </a:p>
        </p:txBody>
      </p:sp>
      <p:sp>
        <p:nvSpPr>
          <p:cNvPr id="9" name="Text 7"/>
          <p:cNvSpPr/>
          <p:nvPr/>
        </p:nvSpPr>
        <p:spPr>
          <a:xfrm>
            <a:off x="457200" y="3611880"/>
            <a:ext cx="1920240" cy="868680"/>
          </a:xfrm>
          <a:prstGeom prst="rect">
            <a:avLst/>
          </a:prstGeom>
          <a:noFill/>
          <a:ln/>
        </p:spPr>
        <p:txBody>
          <a:bodyPr wrap="square" lIns="0" tIns="0" rIns="0" bIns="0" rtlCol="0" anchor="t"/>
          <a:lstStyle/>
          <a:p>
            <a:pPr algn="ctr" indent="0" marL="0">
              <a:buNone/>
            </a:pPr>
            <a:r>
              <a:rPr lang="en-US" sz="1600" b="1" dirty="0">
                <a:solidFill>
                  <a:srgbClr val="1E2761"/>
                </a:solidFill>
                <a:latin typeface="Georgia" pitchFamily="34" charset="0"/>
                <a:ea typeface="Georgia" pitchFamily="34" charset="-122"/>
                <a:cs typeface="Georgia" pitchFamily="34" charset="-120"/>
              </a:rPr>
              <a:t>Planning &amp;</a:t>
            </a:r>
            <a:endParaRPr lang="en-US" sz="1600" dirty="0"/>
          </a:p>
          <a:p>
            <a:pPr algn="ctr" indent="0" marL="0">
              <a:buNone/>
            </a:pPr>
            <a:r>
              <a:rPr lang="en-US" sz="1600" b="1" dirty="0">
                <a:solidFill>
                  <a:srgbClr val="1E2761"/>
                </a:solidFill>
                <a:latin typeface="Georgia" pitchFamily="34" charset="0"/>
                <a:ea typeface="Georgia" pitchFamily="34" charset="-122"/>
                <a:cs typeface="Georgia" pitchFamily="34" charset="-120"/>
              </a:rPr>
              <a:t>Management</a:t>
            </a:r>
            <a:endParaRPr lang="en-US" sz="1600" dirty="0"/>
          </a:p>
        </p:txBody>
      </p:sp>
      <p:sp>
        <p:nvSpPr>
          <p:cNvPr id="10" name="Text 8"/>
          <p:cNvSpPr/>
          <p:nvPr/>
        </p:nvSpPr>
        <p:spPr>
          <a:xfrm>
            <a:off x="457200" y="4526280"/>
            <a:ext cx="1920240" cy="1005840"/>
          </a:xfrm>
          <a:prstGeom prst="rect">
            <a:avLst/>
          </a:prstGeom>
          <a:noFill/>
          <a:ln/>
        </p:spPr>
        <p:txBody>
          <a:bodyPr wrap="square" lIns="0" tIns="0" rIns="0" bIns="0" rtlCol="0" anchor="t"/>
          <a:lstStyle/>
          <a:p>
            <a:pPr algn="ctr" indent="0" marL="0">
              <a:buNone/>
            </a:pPr>
            <a:r>
              <a:rPr lang="en-US" sz="1100" dirty="0">
                <a:solidFill>
                  <a:srgbClr val="1A1A1A"/>
                </a:solidFill>
                <a:latin typeface="Calibri" pitchFamily="34" charset="0"/>
                <a:ea typeface="Calibri" pitchFamily="34" charset="-122"/>
                <a:cs typeface="Calibri" pitchFamily="34" charset="-120"/>
              </a:rPr>
              <a:t>CMP, technical reviews, performance metrics, data management</a:t>
            </a:r>
            <a:endParaRPr lang="en-US" sz="1100" dirty="0"/>
          </a:p>
        </p:txBody>
      </p:sp>
      <p:sp>
        <p:nvSpPr>
          <p:cNvPr id="11" name="Shape 9"/>
          <p:cNvSpPr/>
          <p:nvPr/>
        </p:nvSpPr>
        <p:spPr>
          <a:xfrm>
            <a:off x="2651760" y="2011680"/>
            <a:ext cx="2194560" cy="3657600"/>
          </a:xfrm>
          <a:prstGeom prst="rect">
            <a:avLst/>
          </a:prstGeom>
          <a:solidFill>
            <a:srgbClr val="F5F7FA"/>
          </a:solidFill>
          <a:ln w="12700">
            <a:solidFill>
              <a:srgbClr val="E2E8F0"/>
            </a:solidFill>
            <a:prstDash val="solid"/>
          </a:ln>
        </p:spPr>
      </p:sp>
      <p:sp>
        <p:nvSpPr>
          <p:cNvPr id="12" name="Shape 10"/>
          <p:cNvSpPr/>
          <p:nvPr/>
        </p:nvSpPr>
        <p:spPr>
          <a:xfrm>
            <a:off x="2651760" y="2011680"/>
            <a:ext cx="2194560" cy="137160"/>
          </a:xfrm>
          <a:prstGeom prst="rect">
            <a:avLst/>
          </a:prstGeom>
          <a:solidFill>
            <a:srgbClr val="1E2761"/>
          </a:solidFill>
          <a:ln w="12700">
            <a:solidFill>
              <a:srgbClr val="1E2761"/>
            </a:solidFill>
            <a:prstDash val="solid"/>
          </a:ln>
        </p:spPr>
      </p:sp>
      <p:sp>
        <p:nvSpPr>
          <p:cNvPr id="13" name="Shape 11"/>
          <p:cNvSpPr/>
          <p:nvPr/>
        </p:nvSpPr>
        <p:spPr>
          <a:xfrm>
            <a:off x="3200400" y="2377440"/>
            <a:ext cx="1097280" cy="1097280"/>
          </a:xfrm>
          <a:prstGeom prst="ellipse">
            <a:avLst/>
          </a:prstGeom>
          <a:solidFill>
            <a:srgbClr val="1E2761"/>
          </a:solidFill>
          <a:ln w="12700">
            <a:solidFill>
              <a:srgbClr val="1E2761"/>
            </a:solidFill>
            <a:prstDash val="solid"/>
          </a:ln>
        </p:spPr>
      </p:sp>
      <p:sp>
        <p:nvSpPr>
          <p:cNvPr id="14" name="Text 12"/>
          <p:cNvSpPr/>
          <p:nvPr/>
        </p:nvSpPr>
        <p:spPr>
          <a:xfrm>
            <a:off x="3200400" y="2377440"/>
            <a:ext cx="1097280" cy="10972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§3.2</a:t>
            </a:r>
            <a:endParaRPr lang="en-US" sz="1800" dirty="0"/>
          </a:p>
        </p:txBody>
      </p:sp>
      <p:sp>
        <p:nvSpPr>
          <p:cNvPr id="15" name="Text 13"/>
          <p:cNvSpPr/>
          <p:nvPr/>
        </p:nvSpPr>
        <p:spPr>
          <a:xfrm>
            <a:off x="2788920" y="3611880"/>
            <a:ext cx="1920240" cy="868680"/>
          </a:xfrm>
          <a:prstGeom prst="rect">
            <a:avLst/>
          </a:prstGeom>
          <a:noFill/>
          <a:ln/>
        </p:spPr>
        <p:txBody>
          <a:bodyPr wrap="square" lIns="0" tIns="0" rIns="0" bIns="0" rtlCol="0" anchor="t"/>
          <a:lstStyle/>
          <a:p>
            <a:pPr algn="ctr" indent="0" marL="0">
              <a:buNone/>
            </a:pPr>
            <a:r>
              <a:rPr lang="en-US" sz="1600" b="1" dirty="0">
                <a:solidFill>
                  <a:srgbClr val="1E2761"/>
                </a:solidFill>
                <a:latin typeface="Georgia" pitchFamily="34" charset="0"/>
                <a:ea typeface="Georgia" pitchFamily="34" charset="-122"/>
                <a:cs typeface="Georgia" pitchFamily="34" charset="-120"/>
              </a:rPr>
              <a:t>Configuration</a:t>
            </a:r>
            <a:endParaRPr lang="en-US" sz="1600" dirty="0"/>
          </a:p>
          <a:p>
            <a:pPr algn="ctr" indent="0" marL="0">
              <a:buNone/>
            </a:pPr>
            <a:r>
              <a:rPr lang="en-US" sz="1600" b="1" dirty="0">
                <a:solidFill>
                  <a:srgbClr val="1E2761"/>
                </a:solidFill>
                <a:latin typeface="Georgia" pitchFamily="34" charset="0"/>
                <a:ea typeface="Georgia" pitchFamily="34" charset="-122"/>
                <a:cs typeface="Georgia" pitchFamily="34" charset="-120"/>
              </a:rPr>
              <a:t>Identification</a:t>
            </a:r>
            <a:endParaRPr lang="en-US" sz="1600" dirty="0"/>
          </a:p>
        </p:txBody>
      </p:sp>
      <p:sp>
        <p:nvSpPr>
          <p:cNvPr id="16" name="Text 14"/>
          <p:cNvSpPr/>
          <p:nvPr/>
        </p:nvSpPr>
        <p:spPr>
          <a:xfrm>
            <a:off x="2788920" y="4526280"/>
            <a:ext cx="1920240" cy="1005840"/>
          </a:xfrm>
          <a:prstGeom prst="rect">
            <a:avLst/>
          </a:prstGeom>
          <a:noFill/>
          <a:ln/>
        </p:spPr>
        <p:txBody>
          <a:bodyPr wrap="square" lIns="0" tIns="0" rIns="0" bIns="0" rtlCol="0" anchor="t"/>
          <a:lstStyle/>
          <a:p>
            <a:pPr algn="ctr" indent="0" marL="0">
              <a:buNone/>
            </a:pPr>
            <a:r>
              <a:rPr lang="en-US" sz="1100" dirty="0">
                <a:solidFill>
                  <a:srgbClr val="1A1A1A"/>
                </a:solidFill>
                <a:latin typeface="Calibri" pitchFamily="34" charset="0"/>
                <a:ea typeface="Calibri" pitchFamily="34" charset="-122"/>
                <a:cs typeface="Calibri" pitchFamily="34" charset="-120"/>
              </a:rPr>
              <a:t>CI selection, baselines (FBL/ABL/PBL), engineering release, interfaces</a:t>
            </a:r>
            <a:endParaRPr lang="en-US" sz="1100" dirty="0"/>
          </a:p>
        </p:txBody>
      </p:sp>
      <p:sp>
        <p:nvSpPr>
          <p:cNvPr id="17" name="Shape 15"/>
          <p:cNvSpPr/>
          <p:nvPr/>
        </p:nvSpPr>
        <p:spPr>
          <a:xfrm>
            <a:off x="4983480" y="2011680"/>
            <a:ext cx="2194560" cy="3657600"/>
          </a:xfrm>
          <a:prstGeom prst="rect">
            <a:avLst/>
          </a:prstGeom>
          <a:solidFill>
            <a:srgbClr val="F5F7FA"/>
          </a:solidFill>
          <a:ln w="12700">
            <a:solidFill>
              <a:srgbClr val="E2E8F0"/>
            </a:solidFill>
            <a:prstDash val="solid"/>
          </a:ln>
        </p:spPr>
      </p:sp>
      <p:sp>
        <p:nvSpPr>
          <p:cNvPr id="18" name="Shape 16"/>
          <p:cNvSpPr/>
          <p:nvPr/>
        </p:nvSpPr>
        <p:spPr>
          <a:xfrm>
            <a:off x="4983480" y="2011680"/>
            <a:ext cx="2194560" cy="137160"/>
          </a:xfrm>
          <a:prstGeom prst="rect">
            <a:avLst/>
          </a:prstGeom>
          <a:solidFill>
            <a:srgbClr val="1E2761"/>
          </a:solidFill>
          <a:ln w="12700">
            <a:solidFill>
              <a:srgbClr val="1E2761"/>
            </a:solidFill>
            <a:prstDash val="solid"/>
          </a:ln>
        </p:spPr>
      </p:sp>
      <p:sp>
        <p:nvSpPr>
          <p:cNvPr id="19" name="Shape 17"/>
          <p:cNvSpPr/>
          <p:nvPr/>
        </p:nvSpPr>
        <p:spPr>
          <a:xfrm>
            <a:off x="5532120" y="2377440"/>
            <a:ext cx="1097280" cy="1097280"/>
          </a:xfrm>
          <a:prstGeom prst="ellipse">
            <a:avLst/>
          </a:prstGeom>
          <a:solidFill>
            <a:srgbClr val="1E2761"/>
          </a:solidFill>
          <a:ln w="12700">
            <a:solidFill>
              <a:srgbClr val="1E2761"/>
            </a:solidFill>
            <a:prstDash val="solid"/>
          </a:ln>
        </p:spPr>
      </p:sp>
      <p:sp>
        <p:nvSpPr>
          <p:cNvPr id="20" name="Text 18"/>
          <p:cNvSpPr/>
          <p:nvPr/>
        </p:nvSpPr>
        <p:spPr>
          <a:xfrm>
            <a:off x="5532120" y="2377440"/>
            <a:ext cx="1097280" cy="10972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§3.3</a:t>
            </a:r>
            <a:endParaRPr lang="en-US" sz="1800" dirty="0"/>
          </a:p>
        </p:txBody>
      </p:sp>
      <p:sp>
        <p:nvSpPr>
          <p:cNvPr id="21" name="Text 19"/>
          <p:cNvSpPr/>
          <p:nvPr/>
        </p:nvSpPr>
        <p:spPr>
          <a:xfrm>
            <a:off x="5120640" y="3611880"/>
            <a:ext cx="1920240" cy="868680"/>
          </a:xfrm>
          <a:prstGeom prst="rect">
            <a:avLst/>
          </a:prstGeom>
          <a:noFill/>
          <a:ln/>
        </p:spPr>
        <p:txBody>
          <a:bodyPr wrap="square" lIns="0" tIns="0" rIns="0" bIns="0" rtlCol="0" anchor="t"/>
          <a:lstStyle/>
          <a:p>
            <a:pPr algn="ctr" indent="0" marL="0">
              <a:buNone/>
            </a:pPr>
            <a:r>
              <a:rPr lang="en-US" sz="1600" b="1" dirty="0">
                <a:solidFill>
                  <a:srgbClr val="1E2761"/>
                </a:solidFill>
                <a:latin typeface="Georgia" pitchFamily="34" charset="0"/>
                <a:ea typeface="Georgia" pitchFamily="34" charset="-122"/>
                <a:cs typeface="Georgia" pitchFamily="34" charset="-120"/>
              </a:rPr>
              <a:t>Change</a:t>
            </a:r>
            <a:endParaRPr lang="en-US" sz="1600" dirty="0"/>
          </a:p>
          <a:p>
            <a:pPr algn="ctr" indent="0" marL="0">
              <a:buNone/>
            </a:pPr>
            <a:r>
              <a:rPr lang="en-US" sz="1600" b="1" dirty="0">
                <a:solidFill>
                  <a:srgbClr val="1E2761"/>
                </a:solidFill>
                <a:latin typeface="Georgia" pitchFamily="34" charset="0"/>
                <a:ea typeface="Georgia" pitchFamily="34" charset="-122"/>
                <a:cs typeface="Georgia" pitchFamily="34" charset="-120"/>
              </a:rPr>
              <a:t>Management</a:t>
            </a:r>
            <a:endParaRPr lang="en-US" sz="1600" dirty="0"/>
          </a:p>
        </p:txBody>
      </p:sp>
      <p:sp>
        <p:nvSpPr>
          <p:cNvPr id="22" name="Text 20"/>
          <p:cNvSpPr/>
          <p:nvPr/>
        </p:nvSpPr>
        <p:spPr>
          <a:xfrm>
            <a:off x="5120640" y="4526280"/>
            <a:ext cx="1920240" cy="1005840"/>
          </a:xfrm>
          <a:prstGeom prst="rect">
            <a:avLst/>
          </a:prstGeom>
          <a:noFill/>
          <a:ln/>
        </p:spPr>
        <p:txBody>
          <a:bodyPr wrap="square" lIns="0" tIns="0" rIns="0" bIns="0" rtlCol="0" anchor="t"/>
          <a:lstStyle/>
          <a:p>
            <a:pPr algn="ctr" indent="0" marL="0">
              <a:buNone/>
            </a:pPr>
            <a:r>
              <a:rPr lang="en-US" sz="1100" dirty="0">
                <a:solidFill>
                  <a:srgbClr val="1A1A1A"/>
                </a:solidFill>
                <a:latin typeface="Calibri" pitchFamily="34" charset="0"/>
                <a:ea typeface="Calibri" pitchFamily="34" charset="-122"/>
                <a:cs typeface="Calibri" pitchFamily="34" charset="-120"/>
              </a:rPr>
              <a:t>ECP processing, Class I/II classification, RFVs, SCNs, NORs</a:t>
            </a:r>
            <a:endParaRPr lang="en-US" sz="1100" dirty="0"/>
          </a:p>
        </p:txBody>
      </p:sp>
      <p:sp>
        <p:nvSpPr>
          <p:cNvPr id="23" name="Shape 21"/>
          <p:cNvSpPr/>
          <p:nvPr/>
        </p:nvSpPr>
        <p:spPr>
          <a:xfrm>
            <a:off x="7315200" y="2011680"/>
            <a:ext cx="2194560" cy="3657600"/>
          </a:xfrm>
          <a:prstGeom prst="rect">
            <a:avLst/>
          </a:prstGeom>
          <a:solidFill>
            <a:srgbClr val="F5F7FA"/>
          </a:solidFill>
          <a:ln w="12700">
            <a:solidFill>
              <a:srgbClr val="E2E8F0"/>
            </a:solidFill>
            <a:prstDash val="solid"/>
          </a:ln>
        </p:spPr>
      </p:sp>
      <p:sp>
        <p:nvSpPr>
          <p:cNvPr id="24" name="Shape 22"/>
          <p:cNvSpPr/>
          <p:nvPr/>
        </p:nvSpPr>
        <p:spPr>
          <a:xfrm>
            <a:off x="7315200" y="2011680"/>
            <a:ext cx="2194560" cy="137160"/>
          </a:xfrm>
          <a:prstGeom prst="rect">
            <a:avLst/>
          </a:prstGeom>
          <a:solidFill>
            <a:srgbClr val="1E2761"/>
          </a:solidFill>
          <a:ln w="12700">
            <a:solidFill>
              <a:srgbClr val="1E2761"/>
            </a:solidFill>
            <a:prstDash val="solid"/>
          </a:ln>
        </p:spPr>
      </p:sp>
      <p:sp>
        <p:nvSpPr>
          <p:cNvPr id="25" name="Shape 23"/>
          <p:cNvSpPr/>
          <p:nvPr/>
        </p:nvSpPr>
        <p:spPr>
          <a:xfrm>
            <a:off x="7863840" y="2377440"/>
            <a:ext cx="1097280" cy="1097280"/>
          </a:xfrm>
          <a:prstGeom prst="ellipse">
            <a:avLst/>
          </a:prstGeom>
          <a:solidFill>
            <a:srgbClr val="1E2761"/>
          </a:solidFill>
          <a:ln w="12700">
            <a:solidFill>
              <a:srgbClr val="1E2761"/>
            </a:solidFill>
            <a:prstDash val="solid"/>
          </a:ln>
        </p:spPr>
      </p:sp>
      <p:sp>
        <p:nvSpPr>
          <p:cNvPr id="26" name="Text 24"/>
          <p:cNvSpPr/>
          <p:nvPr/>
        </p:nvSpPr>
        <p:spPr>
          <a:xfrm>
            <a:off x="7863840" y="2377440"/>
            <a:ext cx="1097280" cy="10972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§3.4</a:t>
            </a:r>
            <a:endParaRPr lang="en-US" sz="1800" dirty="0"/>
          </a:p>
        </p:txBody>
      </p:sp>
      <p:sp>
        <p:nvSpPr>
          <p:cNvPr id="27" name="Text 25"/>
          <p:cNvSpPr/>
          <p:nvPr/>
        </p:nvSpPr>
        <p:spPr>
          <a:xfrm>
            <a:off x="7452360" y="3611880"/>
            <a:ext cx="1920240" cy="868680"/>
          </a:xfrm>
          <a:prstGeom prst="rect">
            <a:avLst/>
          </a:prstGeom>
          <a:noFill/>
          <a:ln/>
        </p:spPr>
        <p:txBody>
          <a:bodyPr wrap="square" lIns="0" tIns="0" rIns="0" bIns="0" rtlCol="0" anchor="t"/>
          <a:lstStyle/>
          <a:p>
            <a:pPr algn="ctr" indent="0" marL="0">
              <a:buNone/>
            </a:pPr>
            <a:r>
              <a:rPr lang="en-US" sz="1600" b="1" dirty="0">
                <a:solidFill>
                  <a:srgbClr val="1E2761"/>
                </a:solidFill>
                <a:latin typeface="Georgia" pitchFamily="34" charset="0"/>
                <a:ea typeface="Georgia" pitchFamily="34" charset="-122"/>
                <a:cs typeface="Georgia" pitchFamily="34" charset="-120"/>
              </a:rPr>
              <a:t>Configuration</a:t>
            </a:r>
            <a:endParaRPr lang="en-US" sz="1600" dirty="0"/>
          </a:p>
          <a:p>
            <a:pPr algn="ctr" indent="0" marL="0">
              <a:buNone/>
            </a:pPr>
            <a:r>
              <a:rPr lang="en-US" sz="1600" b="1" dirty="0">
                <a:solidFill>
                  <a:srgbClr val="1E2761"/>
                </a:solidFill>
                <a:latin typeface="Georgia" pitchFamily="34" charset="0"/>
                <a:ea typeface="Georgia" pitchFamily="34" charset="-122"/>
                <a:cs typeface="Georgia" pitchFamily="34" charset="-120"/>
              </a:rPr>
              <a:t>Status Accounting</a:t>
            </a:r>
            <a:endParaRPr lang="en-US" sz="1600" dirty="0"/>
          </a:p>
        </p:txBody>
      </p:sp>
      <p:sp>
        <p:nvSpPr>
          <p:cNvPr id="28" name="Text 26"/>
          <p:cNvSpPr/>
          <p:nvPr/>
        </p:nvSpPr>
        <p:spPr>
          <a:xfrm>
            <a:off x="7452360" y="4526280"/>
            <a:ext cx="1920240" cy="1005840"/>
          </a:xfrm>
          <a:prstGeom prst="rect">
            <a:avLst/>
          </a:prstGeom>
          <a:noFill/>
          <a:ln/>
        </p:spPr>
        <p:txBody>
          <a:bodyPr wrap="square" lIns="0" tIns="0" rIns="0" bIns="0" rtlCol="0" anchor="t"/>
          <a:lstStyle/>
          <a:p>
            <a:pPr algn="ctr" indent="0" marL="0">
              <a:buNone/>
            </a:pPr>
            <a:r>
              <a:rPr lang="en-US" sz="1100" dirty="0">
                <a:solidFill>
                  <a:srgbClr val="1A1A1A"/>
                </a:solidFill>
                <a:latin typeface="Calibri" pitchFamily="34" charset="0"/>
                <a:ea typeface="Calibri" pitchFamily="34" charset="-122"/>
                <a:cs typeface="Calibri" pitchFamily="34" charset="-120"/>
              </a:rPr>
              <a:t>As-built tracking, change status, traceability, metrics</a:t>
            </a:r>
            <a:endParaRPr lang="en-US" sz="1100" dirty="0"/>
          </a:p>
        </p:txBody>
      </p:sp>
      <p:sp>
        <p:nvSpPr>
          <p:cNvPr id="29" name="Shape 27"/>
          <p:cNvSpPr/>
          <p:nvPr/>
        </p:nvSpPr>
        <p:spPr>
          <a:xfrm>
            <a:off x="9646920" y="2011680"/>
            <a:ext cx="2194560" cy="3657600"/>
          </a:xfrm>
          <a:prstGeom prst="rect">
            <a:avLst/>
          </a:prstGeom>
          <a:solidFill>
            <a:srgbClr val="F5F7FA"/>
          </a:solidFill>
          <a:ln w="12700">
            <a:solidFill>
              <a:srgbClr val="E2E8F0"/>
            </a:solidFill>
            <a:prstDash val="solid"/>
          </a:ln>
        </p:spPr>
      </p:sp>
      <p:sp>
        <p:nvSpPr>
          <p:cNvPr id="30" name="Shape 28"/>
          <p:cNvSpPr/>
          <p:nvPr/>
        </p:nvSpPr>
        <p:spPr>
          <a:xfrm>
            <a:off x="9646920" y="2011680"/>
            <a:ext cx="2194560" cy="137160"/>
          </a:xfrm>
          <a:prstGeom prst="rect">
            <a:avLst/>
          </a:prstGeom>
          <a:solidFill>
            <a:srgbClr val="1E2761"/>
          </a:solidFill>
          <a:ln w="12700">
            <a:solidFill>
              <a:srgbClr val="1E2761"/>
            </a:solidFill>
            <a:prstDash val="solid"/>
          </a:ln>
        </p:spPr>
      </p:sp>
      <p:sp>
        <p:nvSpPr>
          <p:cNvPr id="31" name="Shape 29"/>
          <p:cNvSpPr/>
          <p:nvPr/>
        </p:nvSpPr>
        <p:spPr>
          <a:xfrm>
            <a:off x="10195560" y="2377440"/>
            <a:ext cx="1097280" cy="1097280"/>
          </a:xfrm>
          <a:prstGeom prst="ellipse">
            <a:avLst/>
          </a:prstGeom>
          <a:solidFill>
            <a:srgbClr val="1E2761"/>
          </a:solidFill>
          <a:ln w="12700">
            <a:solidFill>
              <a:srgbClr val="1E2761"/>
            </a:solidFill>
            <a:prstDash val="solid"/>
          </a:ln>
        </p:spPr>
      </p:sp>
      <p:sp>
        <p:nvSpPr>
          <p:cNvPr id="32" name="Text 30"/>
          <p:cNvSpPr/>
          <p:nvPr/>
        </p:nvSpPr>
        <p:spPr>
          <a:xfrm>
            <a:off x="10195560" y="2377440"/>
            <a:ext cx="1097280" cy="109728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§3.5</a:t>
            </a:r>
            <a:endParaRPr lang="en-US" sz="1800" dirty="0"/>
          </a:p>
        </p:txBody>
      </p:sp>
      <p:sp>
        <p:nvSpPr>
          <p:cNvPr id="33" name="Text 31"/>
          <p:cNvSpPr/>
          <p:nvPr/>
        </p:nvSpPr>
        <p:spPr>
          <a:xfrm>
            <a:off x="9784080" y="3611880"/>
            <a:ext cx="1920240" cy="868680"/>
          </a:xfrm>
          <a:prstGeom prst="rect">
            <a:avLst/>
          </a:prstGeom>
          <a:noFill/>
          <a:ln/>
        </p:spPr>
        <p:txBody>
          <a:bodyPr wrap="square" lIns="0" tIns="0" rIns="0" bIns="0" rtlCol="0" anchor="t"/>
          <a:lstStyle/>
          <a:p>
            <a:pPr algn="ctr" indent="0" marL="0">
              <a:buNone/>
            </a:pPr>
            <a:r>
              <a:rPr lang="en-US" sz="1600" b="1" dirty="0">
                <a:solidFill>
                  <a:srgbClr val="1E2761"/>
                </a:solidFill>
                <a:latin typeface="Georgia" pitchFamily="34" charset="0"/>
                <a:ea typeface="Georgia" pitchFamily="34" charset="-122"/>
                <a:cs typeface="Georgia" pitchFamily="34" charset="-120"/>
              </a:rPr>
              <a:t>Verification</a:t>
            </a:r>
            <a:endParaRPr lang="en-US" sz="1600" dirty="0"/>
          </a:p>
          <a:p>
            <a:pPr algn="ctr" indent="0" marL="0">
              <a:buNone/>
            </a:pPr>
            <a:r>
              <a:rPr lang="en-US" sz="1600" b="1" dirty="0">
                <a:solidFill>
                  <a:srgbClr val="1E2761"/>
                </a:solidFill>
                <a:latin typeface="Georgia" pitchFamily="34" charset="0"/>
                <a:ea typeface="Georgia" pitchFamily="34" charset="-122"/>
                <a:cs typeface="Georgia" pitchFamily="34" charset="-120"/>
              </a:rPr>
              <a:t>&amp; Audits</a:t>
            </a:r>
            <a:endParaRPr lang="en-US" sz="1600" dirty="0"/>
          </a:p>
        </p:txBody>
      </p:sp>
      <p:sp>
        <p:nvSpPr>
          <p:cNvPr id="34" name="Text 32"/>
          <p:cNvSpPr/>
          <p:nvPr/>
        </p:nvSpPr>
        <p:spPr>
          <a:xfrm>
            <a:off x="9784080" y="4526280"/>
            <a:ext cx="1920240" cy="1005840"/>
          </a:xfrm>
          <a:prstGeom prst="rect">
            <a:avLst/>
          </a:prstGeom>
          <a:noFill/>
          <a:ln/>
        </p:spPr>
        <p:txBody>
          <a:bodyPr wrap="square" lIns="0" tIns="0" rIns="0" bIns="0" rtlCol="0" anchor="t"/>
          <a:lstStyle/>
          <a:p>
            <a:pPr algn="ctr" indent="0" marL="0">
              <a:buNone/>
            </a:pPr>
            <a:r>
              <a:rPr lang="en-US" sz="1100" dirty="0">
                <a:solidFill>
                  <a:srgbClr val="1A1A1A"/>
                </a:solidFill>
                <a:latin typeface="Calibri" pitchFamily="34" charset="0"/>
                <a:ea typeface="Calibri" pitchFamily="34" charset="-122"/>
                <a:cs typeface="Calibri" pitchFamily="34" charset="-120"/>
              </a:rPr>
              <a:t>FCA, PCA, audit planning, discrepancy resolution, summary reports</a:t>
            </a:r>
            <a:endParaRPr lang="en-US" sz="1100" dirty="0"/>
          </a:p>
        </p:txBody>
      </p:sp>
      <p:sp>
        <p:nvSpPr>
          <p:cNvPr id="35" name="Shape 33"/>
          <p:cNvSpPr/>
          <p:nvPr/>
        </p:nvSpPr>
        <p:spPr>
          <a:xfrm>
            <a:off x="548640" y="5989320"/>
            <a:ext cx="11064240" cy="457200"/>
          </a:xfrm>
          <a:prstGeom prst="rect">
            <a:avLst/>
          </a:prstGeom>
          <a:solidFill>
            <a:srgbClr val="1E2761"/>
          </a:solidFill>
          <a:ln w="12700">
            <a:solidFill>
              <a:srgbClr val="1E2761"/>
            </a:solidFill>
            <a:prstDash val="solid"/>
          </a:ln>
        </p:spPr>
      </p:sp>
      <p:sp>
        <p:nvSpPr>
          <p:cNvPr id="36" name="Text 34"/>
          <p:cNvSpPr/>
          <p:nvPr/>
        </p:nvSpPr>
        <p:spPr>
          <a:xfrm>
            <a:off x="548640" y="5989320"/>
            <a:ext cx="11064240" cy="457200"/>
          </a:xfrm>
          <a:prstGeom prst="rect">
            <a:avLst/>
          </a:prstGeom>
          <a:noFill/>
          <a:ln/>
        </p:spPr>
        <p:txBody>
          <a:bodyPr wrap="square" lIns="0" tIns="0" rIns="0" bIns="0" rtlCol="0" anchor="ctr"/>
          <a:lstStyle/>
          <a:p>
            <a:pPr algn="ctr" indent="0" marL="0">
              <a:buNone/>
            </a:pPr>
            <a:r>
              <a:rPr lang="en-US" sz="1400" i="1" dirty="0">
                <a:solidFill>
                  <a:srgbClr val="FFFFFF"/>
                </a:solidFill>
                <a:latin typeface="Calibri" pitchFamily="34" charset="0"/>
                <a:ea typeface="Calibri" pitchFamily="34" charset="-122"/>
                <a:cs typeface="Calibri" pitchFamily="34" charset="-120"/>
              </a:rPr>
              <a:t>Three of these five functions require engineering-level judgment to execute. That is the heart of this analysis.</a:t>
            </a:r>
            <a:endParaRPr lang="en-US" sz="1400" dirty="0"/>
          </a:p>
        </p:txBody>
      </p:sp>
      <p:sp>
        <p:nvSpPr>
          <p:cNvPr id="37" name="Text 35"/>
          <p:cNvSpPr/>
          <p:nvPr/>
        </p:nvSpPr>
        <p:spPr>
          <a:xfrm>
            <a:off x="457200" y="6537960"/>
            <a:ext cx="822960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CM Workforce Competency Analysis  |  EIA-649-1</a:t>
            </a:r>
            <a:endParaRPr lang="en-US" sz="900" dirty="0"/>
          </a:p>
        </p:txBody>
      </p:sp>
      <p:sp>
        <p:nvSpPr>
          <p:cNvPr id="38" name="Text 36"/>
          <p:cNvSpPr/>
          <p:nvPr/>
        </p:nvSpPr>
        <p:spPr>
          <a:xfrm>
            <a:off x="10972800" y="6537960"/>
            <a:ext cx="7315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200" b="1" spc="800" kern="0" dirty="0">
                <a:solidFill>
                  <a:srgbClr val="C00000"/>
                </a:solidFill>
                <a:latin typeface="Calibri" pitchFamily="34" charset="0"/>
                <a:ea typeface="Calibri" pitchFamily="34" charset="-122"/>
                <a:cs typeface="Calibri" pitchFamily="34" charset="-120"/>
              </a:rPr>
              <a:t>THE VERDICT</a:t>
            </a:r>
            <a:endParaRPr lang="en-US" sz="1200" dirty="0"/>
          </a:p>
        </p:txBody>
      </p:sp>
      <p:sp>
        <p:nvSpPr>
          <p:cNvPr id="3" name="Text 1"/>
          <p:cNvSpPr/>
          <p:nvPr/>
        </p:nvSpPr>
        <p:spPr>
          <a:xfrm>
            <a:off x="548640" y="777240"/>
            <a:ext cx="10972800" cy="64008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Minimum Credential Required, By Function</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3657600"/>
        </p:xfrm>
        <a:graphic>
          <a:graphicData uri="http://schemas.openxmlformats.org/drawingml/2006/table">
            <a:tbl>
              <a:tblPr/>
              <a:tblGrid>
                <a:gridCol w="3017520"/>
                <a:gridCol w="3200400"/>
                <a:gridCol w="4846320"/>
              </a:tblGrid>
              <a:tr h="45720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Function</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Minimum Credential</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Key 649-1 Driver</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r>
              <a:tr h="594360">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§3.1 Planning &amp; Management</a:t>
                      </a:r>
                      <a:endParaRPr lang="en-US" sz="12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200" b="1" dirty="0">
                          <a:solidFill>
                            <a:srgbClr val="2E5F8A"/>
                          </a:solidFill>
                          <a:latin typeface="Calibri" pitchFamily="34" charset="0"/>
                          <a:ea typeface="Calibri" pitchFamily="34" charset="-122"/>
                          <a:cs typeface="Calibri" pitchFamily="34" charset="-120"/>
                        </a:rPr>
                        <a:t>B.S.E.T. (Lead) / A.A.S. (Support)</a:t>
                      </a:r>
                      <a:endParaRPr lang="en-US" sz="12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§3.1.3 Technical Reviews; §3.1.4 Data Management</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94360">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§3.2 Configuration Identification</a:t>
                      </a:r>
                      <a:endParaRPr lang="en-US" sz="12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7FA"/>
                    </a:solidFill>
                  </a:tcPr>
                </a:tc>
                <a:tc>
                  <a:txBody>
                    <a:bodyPr/>
                    <a:lstStyle/>
                    <a:p>
                      <a:pPr algn="ctr" indent="0" marL="0">
                        <a:buNone/>
                      </a:pPr>
                      <a:r>
                        <a:rPr lang="en-US" sz="1200" b="1" dirty="0">
                          <a:solidFill>
                            <a:srgbClr val="C00000"/>
                          </a:solidFill>
                          <a:latin typeface="Calibri" pitchFamily="34" charset="0"/>
                          <a:ea typeface="Calibri" pitchFamily="34" charset="-122"/>
                          <a:cs typeface="Calibri" pitchFamily="34" charset="-120"/>
                        </a:rPr>
                        <a:t>B.S.E. REQUIRED</a:t>
                      </a:r>
                      <a:endParaRPr lang="en-US" sz="12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7F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§3.2.1 CI safety/criticality; §3.2.2 Baselines; §3.2.5 Interfaces</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7FA"/>
                    </a:solidFill>
                  </a:tcPr>
                </a:tc>
              </a:tr>
              <a:tr h="594360">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§3.3 Change Management</a:t>
                      </a:r>
                      <a:endParaRPr lang="en-US" sz="12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200" b="1" dirty="0">
                          <a:solidFill>
                            <a:srgbClr val="C00000"/>
                          </a:solidFill>
                          <a:latin typeface="Calibri" pitchFamily="34" charset="0"/>
                          <a:ea typeface="Calibri" pitchFamily="34" charset="-122"/>
                          <a:cs typeface="Calibri" pitchFamily="34" charset="-120"/>
                        </a:rPr>
                        <a:t>B.S.E. REQUIRED (Lead)</a:t>
                      </a:r>
                      <a:endParaRPr lang="en-US" sz="12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§3.3.1.1 Product model review; §3.3.1.2 Class I/II classification</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94360">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§3.4 Status Accounting</a:t>
                      </a:r>
                      <a:endParaRPr lang="en-US" sz="12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7FA"/>
                    </a:solidFill>
                  </a:tcPr>
                </a:tc>
                <a:tc>
                  <a:txBody>
                    <a:bodyPr/>
                    <a:lstStyle/>
                    <a:p>
                      <a:pPr algn="ctr" indent="0" marL="0">
                        <a:buNone/>
                      </a:pPr>
                      <a:r>
                        <a:rPr lang="en-US" sz="1200" b="1" dirty="0">
                          <a:solidFill>
                            <a:srgbClr val="BF8F00"/>
                          </a:solidFill>
                          <a:latin typeface="Calibri" pitchFamily="34" charset="0"/>
                          <a:ea typeface="Calibri" pitchFamily="34" charset="-122"/>
                          <a:cs typeface="Calibri" pitchFamily="34" charset="-120"/>
                        </a:rPr>
                        <a:t>B.S.E.T. (no CSA tool)</a:t>
                      </a:r>
                      <a:endParaRPr lang="en-US" sz="12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7F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§3.4.1(3) Manual BOM/CI traceability without automation</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7FA"/>
                    </a:solidFill>
                  </a:tcPr>
                </a:tc>
              </a:tr>
              <a:tr h="594360">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§3.5 Verification &amp; Audits</a:t>
                      </a:r>
                      <a:endParaRPr lang="en-US" sz="12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200" b="1" dirty="0">
                          <a:solidFill>
                            <a:srgbClr val="C00000"/>
                          </a:solidFill>
                          <a:latin typeface="Calibri" pitchFamily="34" charset="0"/>
                          <a:ea typeface="Calibri" pitchFamily="34" charset="-122"/>
                          <a:cs typeface="Calibri" pitchFamily="34" charset="-120"/>
                        </a:rPr>
                        <a:t>B.S.E. REQUIRED</a:t>
                      </a:r>
                      <a:endParaRPr lang="en-US" sz="12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§3.5.2 FCA; §3.5.3 PCA drawing/CAD review</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5" name="Shape 2"/>
          <p:cNvSpPr/>
          <p:nvPr/>
        </p:nvSpPr>
        <p:spPr>
          <a:xfrm>
            <a:off x="548640" y="5532120"/>
            <a:ext cx="11064240" cy="914400"/>
          </a:xfrm>
          <a:prstGeom prst="rect">
            <a:avLst/>
          </a:prstGeom>
          <a:solidFill>
            <a:srgbClr val="F5F7FA"/>
          </a:solidFill>
          <a:ln w="12700">
            <a:solidFill>
              <a:srgbClr val="E2E8F0"/>
            </a:solidFill>
            <a:prstDash val="solid"/>
          </a:ln>
        </p:spPr>
      </p:sp>
      <p:sp>
        <p:nvSpPr>
          <p:cNvPr id="6" name="Shape 3"/>
          <p:cNvSpPr/>
          <p:nvPr/>
        </p:nvSpPr>
        <p:spPr>
          <a:xfrm>
            <a:off x="548640" y="5532120"/>
            <a:ext cx="91440" cy="914400"/>
          </a:xfrm>
          <a:prstGeom prst="rect">
            <a:avLst/>
          </a:prstGeom>
          <a:solidFill>
            <a:srgbClr val="C00000"/>
          </a:solidFill>
          <a:ln w="12700">
            <a:solidFill>
              <a:srgbClr val="C00000"/>
            </a:solidFill>
            <a:prstDash val="solid"/>
          </a:ln>
        </p:spPr>
      </p:sp>
      <p:sp>
        <p:nvSpPr>
          <p:cNvPr id="7" name="Text 4"/>
          <p:cNvSpPr/>
          <p:nvPr/>
        </p:nvSpPr>
        <p:spPr>
          <a:xfrm>
            <a:off x="777240" y="5577840"/>
            <a:ext cx="10789920" cy="82296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Bottom line:  </a:t>
            </a:r>
            <a:pPr indent="0" marL="0">
              <a:buNone/>
            </a:pPr>
            <a:r>
              <a:rPr lang="en-US" sz="1300" dirty="0">
                <a:solidFill>
                  <a:srgbClr val="1A1A1A"/>
                </a:solidFill>
                <a:latin typeface="Calibri" pitchFamily="34" charset="0"/>
                <a:ea typeface="Calibri" pitchFamily="34" charset="-122"/>
                <a:cs typeface="Calibri" pitchFamily="34" charset="-120"/>
              </a:rPr>
              <a:t>Of 57 sampled EIA-649-1 requirements in the Requirements Allocation Matrix, </a:t>
            </a:r>
            <a:pPr indent="0" marL="0">
              <a:buNone/>
            </a:pPr>
            <a:r>
              <a:rPr lang="en-US" sz="1300" b="1" dirty="0">
                <a:solidFill>
                  <a:srgbClr val="C00000"/>
                </a:solidFill>
                <a:latin typeface="Calibri" pitchFamily="34" charset="0"/>
                <a:ea typeface="Calibri" pitchFamily="34" charset="-122"/>
                <a:cs typeface="Calibri" pitchFamily="34" charset="-120"/>
              </a:rPr>
              <a:t>63% require a Tier 3 (engineering-level) credential</a:t>
            </a:r>
            <a:pPr indent="0" marL="0">
              <a:buNone/>
            </a:pPr>
            <a:r>
              <a:rPr lang="en-US" sz="1300" dirty="0">
                <a:solidFill>
                  <a:srgbClr val="1A1A1A"/>
                </a:solidFill>
                <a:latin typeface="Calibri" pitchFamily="34" charset="0"/>
                <a:ea typeface="Calibri" pitchFamily="34" charset="-122"/>
                <a:cs typeface="Calibri" pitchFamily="34" charset="-120"/>
              </a:rPr>
              <a:t>. The current A.A.S.-only workforce model cannot meet this requirement.</a:t>
            </a:r>
            <a:endParaRPr lang="en-US" sz="1300" dirty="0"/>
          </a:p>
        </p:txBody>
      </p:sp>
      <p:sp>
        <p:nvSpPr>
          <p:cNvPr id="8" name="Text 5"/>
          <p:cNvSpPr/>
          <p:nvPr/>
        </p:nvSpPr>
        <p:spPr>
          <a:xfrm>
            <a:off x="457200" y="6537960"/>
            <a:ext cx="822960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CM Workforce Competency Analysis  |  EIA-649-1</a:t>
            </a:r>
            <a:endParaRPr lang="en-US" sz="900" dirty="0"/>
          </a:p>
        </p:txBody>
      </p:sp>
      <p:sp>
        <p:nvSpPr>
          <p:cNvPr id="9" name="Text 6"/>
          <p:cNvSpPr/>
          <p:nvPr/>
        </p:nvSpPr>
        <p:spPr>
          <a:xfrm>
            <a:off x="10972800" y="6537960"/>
            <a:ext cx="7315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200" b="1" spc="800" kern="0" dirty="0">
                <a:solidFill>
                  <a:srgbClr val="C00000"/>
                </a:solidFill>
                <a:latin typeface="Calibri" pitchFamily="34" charset="0"/>
                <a:ea typeface="Calibri" pitchFamily="34" charset="-122"/>
                <a:cs typeface="Calibri" pitchFamily="34" charset="-120"/>
              </a:rPr>
              <a:t>THE PROPOSED MODEL</a:t>
            </a:r>
            <a:endParaRPr lang="en-US" sz="1200" dirty="0"/>
          </a:p>
        </p:txBody>
      </p:sp>
      <p:sp>
        <p:nvSpPr>
          <p:cNvPr id="3" name="Text 1"/>
          <p:cNvSpPr/>
          <p:nvPr/>
        </p:nvSpPr>
        <p:spPr>
          <a:xfrm>
            <a:off x="548640" y="777240"/>
            <a:ext cx="10972800" cy="64008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Four-Tier CM Workforce — A Role for Everyone</a:t>
            </a:r>
            <a:endParaRPr lang="en-US" sz="3000" dirty="0"/>
          </a:p>
        </p:txBody>
      </p:sp>
      <p:sp>
        <p:nvSpPr>
          <p:cNvPr id="4" name="Shape 2"/>
          <p:cNvSpPr/>
          <p:nvPr/>
        </p:nvSpPr>
        <p:spPr>
          <a:xfrm>
            <a:off x="502920" y="1783080"/>
            <a:ext cx="2697480" cy="4160520"/>
          </a:xfrm>
          <a:prstGeom prst="rect">
            <a:avLst/>
          </a:prstGeom>
          <a:solidFill>
            <a:srgbClr val="F5F7FA"/>
          </a:solidFill>
          <a:ln w="19050">
            <a:solidFill>
              <a:srgbClr val="64748B"/>
            </a:solidFill>
            <a:prstDash val="solid"/>
          </a:ln>
        </p:spPr>
      </p:sp>
      <p:sp>
        <p:nvSpPr>
          <p:cNvPr id="5" name="Shape 3"/>
          <p:cNvSpPr/>
          <p:nvPr/>
        </p:nvSpPr>
        <p:spPr>
          <a:xfrm>
            <a:off x="502920" y="1783080"/>
            <a:ext cx="2697480" cy="457200"/>
          </a:xfrm>
          <a:prstGeom prst="rect">
            <a:avLst/>
          </a:prstGeom>
          <a:solidFill>
            <a:srgbClr val="64748B"/>
          </a:solidFill>
          <a:ln w="12700">
            <a:solidFill>
              <a:srgbClr val="64748B"/>
            </a:solidFill>
            <a:prstDash val="solid"/>
          </a:ln>
        </p:spPr>
      </p:sp>
      <p:sp>
        <p:nvSpPr>
          <p:cNvPr id="6" name="Text 4"/>
          <p:cNvSpPr/>
          <p:nvPr/>
        </p:nvSpPr>
        <p:spPr>
          <a:xfrm>
            <a:off x="502920" y="1828800"/>
            <a:ext cx="2697480" cy="365760"/>
          </a:xfrm>
          <a:prstGeom prst="rect">
            <a:avLst/>
          </a:prstGeom>
          <a:noFill/>
          <a:ln/>
        </p:spPr>
        <p:txBody>
          <a:bodyPr wrap="square" lIns="0" tIns="0" rIns="0" bIns="0" rtlCol="0" anchor="ctr"/>
          <a:lstStyle/>
          <a:p>
            <a:pPr algn="ctr" indent="0" marL="0">
              <a:buNone/>
            </a:pPr>
            <a:r>
              <a:rPr lang="en-US" sz="1400" b="1" spc="600" kern="0" dirty="0">
                <a:solidFill>
                  <a:srgbClr val="FFFFFF"/>
                </a:solidFill>
                <a:latin typeface="Calibri" pitchFamily="34" charset="0"/>
                <a:ea typeface="Calibri" pitchFamily="34" charset="-122"/>
                <a:cs typeface="Calibri" pitchFamily="34" charset="-120"/>
              </a:rPr>
              <a:t>TIER 1</a:t>
            </a:r>
            <a:endParaRPr lang="en-US" sz="1400" dirty="0"/>
          </a:p>
        </p:txBody>
      </p:sp>
      <p:sp>
        <p:nvSpPr>
          <p:cNvPr id="7" name="Text 5"/>
          <p:cNvSpPr/>
          <p:nvPr/>
        </p:nvSpPr>
        <p:spPr>
          <a:xfrm>
            <a:off x="685800" y="2377440"/>
            <a:ext cx="2331720" cy="640080"/>
          </a:xfrm>
          <a:prstGeom prst="rect">
            <a:avLst/>
          </a:prstGeom>
          <a:noFill/>
          <a:ln/>
        </p:spPr>
        <p:txBody>
          <a:bodyPr wrap="square" lIns="0" tIns="0" rIns="0" bIns="0" rtlCol="0" anchor="ctr"/>
          <a:lstStyle/>
          <a:p>
            <a:pPr algn="ctr" indent="0" marL="0">
              <a:buNone/>
            </a:pPr>
            <a:r>
              <a:rPr lang="en-US" sz="1700" b="1" dirty="0">
                <a:solidFill>
                  <a:srgbClr val="1E2761"/>
                </a:solidFill>
                <a:latin typeface="Georgia" pitchFamily="34" charset="0"/>
                <a:ea typeface="Georgia" pitchFamily="34" charset="-122"/>
                <a:cs typeface="Georgia" pitchFamily="34" charset="-120"/>
              </a:rPr>
              <a:t>CM Technician</a:t>
            </a:r>
            <a:endParaRPr lang="en-US" sz="1700" dirty="0"/>
          </a:p>
        </p:txBody>
      </p:sp>
      <p:sp>
        <p:nvSpPr>
          <p:cNvPr id="8" name="Shape 6"/>
          <p:cNvSpPr/>
          <p:nvPr/>
        </p:nvSpPr>
        <p:spPr>
          <a:xfrm>
            <a:off x="960120" y="3108960"/>
            <a:ext cx="1783080" cy="0"/>
          </a:xfrm>
          <a:prstGeom prst="line">
            <a:avLst/>
          </a:prstGeom>
          <a:noFill/>
          <a:ln w="12700">
            <a:solidFill>
              <a:srgbClr val="64748B"/>
            </a:solidFill>
            <a:prstDash val="solid"/>
          </a:ln>
        </p:spPr>
      </p:sp>
      <p:sp>
        <p:nvSpPr>
          <p:cNvPr id="9" name="Text 7"/>
          <p:cNvSpPr/>
          <p:nvPr/>
        </p:nvSpPr>
        <p:spPr>
          <a:xfrm>
            <a:off x="685800" y="3246120"/>
            <a:ext cx="2331720" cy="274320"/>
          </a:xfrm>
          <a:prstGeom prst="rect">
            <a:avLst/>
          </a:prstGeom>
          <a:noFill/>
          <a:ln/>
        </p:spPr>
        <p:txBody>
          <a:bodyPr wrap="square" lIns="0" tIns="0" rIns="0" bIns="0" rtlCol="0" anchor="ctr"/>
          <a:lstStyle/>
          <a:p>
            <a:pPr algn="ctr" indent="0" marL="0">
              <a:buNone/>
            </a:pPr>
            <a:r>
              <a:rPr lang="en-US" sz="1000" b="1" spc="400" kern="0" dirty="0">
                <a:solidFill>
                  <a:srgbClr val="64748B"/>
                </a:solidFill>
                <a:latin typeface="Calibri" pitchFamily="34" charset="0"/>
                <a:ea typeface="Calibri" pitchFamily="34" charset="-122"/>
                <a:cs typeface="Calibri" pitchFamily="34" charset="-120"/>
              </a:rPr>
              <a:t>CREDENTIAL</a:t>
            </a:r>
            <a:endParaRPr lang="en-US" sz="1000" dirty="0"/>
          </a:p>
        </p:txBody>
      </p:sp>
      <p:sp>
        <p:nvSpPr>
          <p:cNvPr id="10" name="Text 8"/>
          <p:cNvSpPr/>
          <p:nvPr/>
        </p:nvSpPr>
        <p:spPr>
          <a:xfrm>
            <a:off x="685800" y="3520440"/>
            <a:ext cx="2331720" cy="640080"/>
          </a:xfrm>
          <a:prstGeom prst="rect">
            <a:avLst/>
          </a:prstGeom>
          <a:noFill/>
          <a:ln/>
        </p:spPr>
        <p:txBody>
          <a:bodyPr wrap="square" lIns="0" tIns="0" rIns="0" bIns="0" rtlCol="0" anchor="t"/>
          <a:lstStyle/>
          <a:p>
            <a:pPr algn="ctr" indent="0" marL="0">
              <a:buNone/>
            </a:pPr>
            <a:r>
              <a:rPr lang="en-US" sz="1300" b="1" dirty="0">
                <a:solidFill>
                  <a:srgbClr val="64748B"/>
                </a:solidFill>
                <a:latin typeface="Calibri" pitchFamily="34" charset="0"/>
                <a:ea typeface="Calibri" pitchFamily="34" charset="-122"/>
                <a:cs typeface="Calibri" pitchFamily="34" charset="-120"/>
              </a:rPr>
              <a:t>A.A.S.</a:t>
            </a:r>
            <a:endParaRPr lang="en-US" sz="1300" dirty="0"/>
          </a:p>
        </p:txBody>
      </p:sp>
      <p:sp>
        <p:nvSpPr>
          <p:cNvPr id="11" name="Text 9"/>
          <p:cNvSpPr/>
          <p:nvPr/>
        </p:nvSpPr>
        <p:spPr>
          <a:xfrm>
            <a:off x="685800" y="4251960"/>
            <a:ext cx="2331720" cy="274320"/>
          </a:xfrm>
          <a:prstGeom prst="rect">
            <a:avLst/>
          </a:prstGeom>
          <a:noFill/>
          <a:ln/>
        </p:spPr>
        <p:txBody>
          <a:bodyPr wrap="square" lIns="0" tIns="0" rIns="0" bIns="0" rtlCol="0" anchor="ctr"/>
          <a:lstStyle/>
          <a:p>
            <a:pPr algn="ctr" indent="0" marL="0">
              <a:buNone/>
            </a:pPr>
            <a:r>
              <a:rPr lang="en-US" sz="1000" b="1" spc="400" kern="0" dirty="0">
                <a:solidFill>
                  <a:srgbClr val="64748B"/>
                </a:solidFill>
                <a:latin typeface="Calibri" pitchFamily="34" charset="0"/>
                <a:ea typeface="Calibri" pitchFamily="34" charset="-122"/>
                <a:cs typeface="Calibri" pitchFamily="34" charset="-120"/>
              </a:rPr>
              <a:t>SCOPE</a:t>
            </a:r>
            <a:endParaRPr lang="en-US" sz="1000" dirty="0"/>
          </a:p>
        </p:txBody>
      </p:sp>
      <p:sp>
        <p:nvSpPr>
          <p:cNvPr id="12" name="Text 10"/>
          <p:cNvSpPr/>
          <p:nvPr/>
        </p:nvSpPr>
        <p:spPr>
          <a:xfrm>
            <a:off x="685800" y="4526280"/>
            <a:ext cx="2331720" cy="1325880"/>
          </a:xfrm>
          <a:prstGeom prst="rect">
            <a:avLst/>
          </a:prstGeom>
          <a:noFill/>
          <a:ln/>
        </p:spPr>
        <p:txBody>
          <a:bodyPr wrap="square" lIns="0" tIns="0" rIns="0" bIns="0" rtlCol="0" anchor="t"/>
          <a:lstStyle/>
          <a:p>
            <a:pPr algn="ctr" indent="0" marL="0">
              <a:buNone/>
            </a:pPr>
            <a:r>
              <a:rPr lang="en-US" sz="1100" dirty="0">
                <a:solidFill>
                  <a:srgbClr val="1A1A1A"/>
                </a:solidFill>
                <a:latin typeface="Calibri" pitchFamily="34" charset="0"/>
                <a:ea typeface="Calibri" pitchFamily="34" charset="-122"/>
                <a:cs typeface="Calibri" pitchFamily="34" charset="-120"/>
              </a:rPr>
              <a:t>Administrative support, change processing, CSA data entry, audit logistics, records management</a:t>
            </a:r>
            <a:endParaRPr lang="en-US" sz="1100" dirty="0"/>
          </a:p>
        </p:txBody>
      </p:sp>
      <p:sp>
        <p:nvSpPr>
          <p:cNvPr id="13" name="Shape 11"/>
          <p:cNvSpPr/>
          <p:nvPr/>
        </p:nvSpPr>
        <p:spPr>
          <a:xfrm>
            <a:off x="3319272" y="1783080"/>
            <a:ext cx="2697480" cy="4160520"/>
          </a:xfrm>
          <a:prstGeom prst="rect">
            <a:avLst/>
          </a:prstGeom>
          <a:solidFill>
            <a:srgbClr val="BDD7EE"/>
          </a:solidFill>
          <a:ln w="19050">
            <a:solidFill>
              <a:srgbClr val="2E5F8A"/>
            </a:solidFill>
            <a:prstDash val="solid"/>
          </a:ln>
        </p:spPr>
      </p:sp>
      <p:sp>
        <p:nvSpPr>
          <p:cNvPr id="14" name="Shape 12"/>
          <p:cNvSpPr/>
          <p:nvPr/>
        </p:nvSpPr>
        <p:spPr>
          <a:xfrm>
            <a:off x="3319272" y="1783080"/>
            <a:ext cx="2697480" cy="457200"/>
          </a:xfrm>
          <a:prstGeom prst="rect">
            <a:avLst/>
          </a:prstGeom>
          <a:solidFill>
            <a:srgbClr val="2E5F8A"/>
          </a:solidFill>
          <a:ln w="12700">
            <a:solidFill>
              <a:srgbClr val="2E5F8A"/>
            </a:solidFill>
            <a:prstDash val="solid"/>
          </a:ln>
        </p:spPr>
      </p:sp>
      <p:sp>
        <p:nvSpPr>
          <p:cNvPr id="15" name="Text 13"/>
          <p:cNvSpPr/>
          <p:nvPr/>
        </p:nvSpPr>
        <p:spPr>
          <a:xfrm>
            <a:off x="3319272" y="1828800"/>
            <a:ext cx="2697480" cy="365760"/>
          </a:xfrm>
          <a:prstGeom prst="rect">
            <a:avLst/>
          </a:prstGeom>
          <a:noFill/>
          <a:ln/>
        </p:spPr>
        <p:txBody>
          <a:bodyPr wrap="square" lIns="0" tIns="0" rIns="0" bIns="0" rtlCol="0" anchor="ctr"/>
          <a:lstStyle/>
          <a:p>
            <a:pPr algn="ctr" indent="0" marL="0">
              <a:buNone/>
            </a:pPr>
            <a:r>
              <a:rPr lang="en-US" sz="1400" b="1" spc="600" kern="0" dirty="0">
                <a:solidFill>
                  <a:srgbClr val="FFFFFF"/>
                </a:solidFill>
                <a:latin typeface="Calibri" pitchFamily="34" charset="0"/>
                <a:ea typeface="Calibri" pitchFamily="34" charset="-122"/>
                <a:cs typeface="Calibri" pitchFamily="34" charset="-120"/>
              </a:rPr>
              <a:t>TIER 2</a:t>
            </a:r>
            <a:endParaRPr lang="en-US" sz="1400" dirty="0"/>
          </a:p>
        </p:txBody>
      </p:sp>
      <p:sp>
        <p:nvSpPr>
          <p:cNvPr id="16" name="Text 14"/>
          <p:cNvSpPr/>
          <p:nvPr/>
        </p:nvSpPr>
        <p:spPr>
          <a:xfrm>
            <a:off x="3502152" y="2377440"/>
            <a:ext cx="2331720" cy="640080"/>
          </a:xfrm>
          <a:prstGeom prst="rect">
            <a:avLst/>
          </a:prstGeom>
          <a:noFill/>
          <a:ln/>
        </p:spPr>
        <p:txBody>
          <a:bodyPr wrap="square" lIns="0" tIns="0" rIns="0" bIns="0" rtlCol="0" anchor="ctr"/>
          <a:lstStyle/>
          <a:p>
            <a:pPr algn="ctr" indent="0" marL="0">
              <a:buNone/>
            </a:pPr>
            <a:r>
              <a:rPr lang="en-US" sz="1700" b="1" dirty="0">
                <a:solidFill>
                  <a:srgbClr val="1E2761"/>
                </a:solidFill>
                <a:latin typeface="Georgia" pitchFamily="34" charset="0"/>
                <a:ea typeface="Georgia" pitchFamily="34" charset="-122"/>
                <a:cs typeface="Georgia" pitchFamily="34" charset="-120"/>
              </a:rPr>
              <a:t>CM Specialist</a:t>
            </a:r>
            <a:endParaRPr lang="en-US" sz="1700" dirty="0"/>
          </a:p>
        </p:txBody>
      </p:sp>
      <p:sp>
        <p:nvSpPr>
          <p:cNvPr id="17" name="Shape 15"/>
          <p:cNvSpPr/>
          <p:nvPr/>
        </p:nvSpPr>
        <p:spPr>
          <a:xfrm>
            <a:off x="3776472" y="3108960"/>
            <a:ext cx="1783080" cy="0"/>
          </a:xfrm>
          <a:prstGeom prst="line">
            <a:avLst/>
          </a:prstGeom>
          <a:noFill/>
          <a:ln w="12700">
            <a:solidFill>
              <a:srgbClr val="2E5F8A"/>
            </a:solidFill>
            <a:prstDash val="solid"/>
          </a:ln>
        </p:spPr>
      </p:sp>
      <p:sp>
        <p:nvSpPr>
          <p:cNvPr id="18" name="Text 16"/>
          <p:cNvSpPr/>
          <p:nvPr/>
        </p:nvSpPr>
        <p:spPr>
          <a:xfrm>
            <a:off x="3502152" y="3246120"/>
            <a:ext cx="2331720" cy="274320"/>
          </a:xfrm>
          <a:prstGeom prst="rect">
            <a:avLst/>
          </a:prstGeom>
          <a:noFill/>
          <a:ln/>
        </p:spPr>
        <p:txBody>
          <a:bodyPr wrap="square" lIns="0" tIns="0" rIns="0" bIns="0" rtlCol="0" anchor="ctr"/>
          <a:lstStyle/>
          <a:p>
            <a:pPr algn="ctr" indent="0" marL="0">
              <a:buNone/>
            </a:pPr>
            <a:r>
              <a:rPr lang="en-US" sz="1000" b="1" spc="400" kern="0" dirty="0">
                <a:solidFill>
                  <a:srgbClr val="64748B"/>
                </a:solidFill>
                <a:latin typeface="Calibri" pitchFamily="34" charset="0"/>
                <a:ea typeface="Calibri" pitchFamily="34" charset="-122"/>
                <a:cs typeface="Calibri" pitchFamily="34" charset="-120"/>
              </a:rPr>
              <a:t>CREDENTIAL</a:t>
            </a:r>
            <a:endParaRPr lang="en-US" sz="1000" dirty="0"/>
          </a:p>
        </p:txBody>
      </p:sp>
      <p:sp>
        <p:nvSpPr>
          <p:cNvPr id="19" name="Text 17"/>
          <p:cNvSpPr/>
          <p:nvPr/>
        </p:nvSpPr>
        <p:spPr>
          <a:xfrm>
            <a:off x="3502152" y="3520440"/>
            <a:ext cx="2331720" cy="640080"/>
          </a:xfrm>
          <a:prstGeom prst="rect">
            <a:avLst/>
          </a:prstGeom>
          <a:noFill/>
          <a:ln/>
        </p:spPr>
        <p:txBody>
          <a:bodyPr wrap="square" lIns="0" tIns="0" rIns="0" bIns="0" rtlCol="0" anchor="t"/>
          <a:lstStyle/>
          <a:p>
            <a:pPr algn="ctr" indent="0" marL="0">
              <a:buNone/>
            </a:pPr>
            <a:r>
              <a:rPr lang="en-US" sz="1300" b="1" dirty="0">
                <a:solidFill>
                  <a:srgbClr val="2E5F8A"/>
                </a:solidFill>
                <a:latin typeface="Calibri" pitchFamily="34" charset="0"/>
                <a:ea typeface="Calibri" pitchFamily="34" charset="-122"/>
                <a:cs typeface="Calibri" pitchFamily="34" charset="-120"/>
              </a:rPr>
              <a:t>B.S.E.T. or equivalent</a:t>
            </a:r>
            <a:endParaRPr lang="en-US" sz="1300" dirty="0"/>
          </a:p>
        </p:txBody>
      </p:sp>
      <p:sp>
        <p:nvSpPr>
          <p:cNvPr id="20" name="Text 18"/>
          <p:cNvSpPr/>
          <p:nvPr/>
        </p:nvSpPr>
        <p:spPr>
          <a:xfrm>
            <a:off x="3502152" y="4251960"/>
            <a:ext cx="2331720" cy="274320"/>
          </a:xfrm>
          <a:prstGeom prst="rect">
            <a:avLst/>
          </a:prstGeom>
          <a:noFill/>
          <a:ln/>
        </p:spPr>
        <p:txBody>
          <a:bodyPr wrap="square" lIns="0" tIns="0" rIns="0" bIns="0" rtlCol="0" anchor="ctr"/>
          <a:lstStyle/>
          <a:p>
            <a:pPr algn="ctr" indent="0" marL="0">
              <a:buNone/>
            </a:pPr>
            <a:r>
              <a:rPr lang="en-US" sz="1000" b="1" spc="400" kern="0" dirty="0">
                <a:solidFill>
                  <a:srgbClr val="64748B"/>
                </a:solidFill>
                <a:latin typeface="Calibri" pitchFamily="34" charset="0"/>
                <a:ea typeface="Calibri" pitchFamily="34" charset="-122"/>
                <a:cs typeface="Calibri" pitchFamily="34" charset="-120"/>
              </a:rPr>
              <a:t>SCOPE</a:t>
            </a:r>
            <a:endParaRPr lang="en-US" sz="1000" dirty="0"/>
          </a:p>
        </p:txBody>
      </p:sp>
      <p:sp>
        <p:nvSpPr>
          <p:cNvPr id="21" name="Text 19"/>
          <p:cNvSpPr/>
          <p:nvPr/>
        </p:nvSpPr>
        <p:spPr>
          <a:xfrm>
            <a:off x="3502152" y="4526280"/>
            <a:ext cx="2331720" cy="1325880"/>
          </a:xfrm>
          <a:prstGeom prst="rect">
            <a:avLst/>
          </a:prstGeom>
          <a:noFill/>
          <a:ln/>
        </p:spPr>
        <p:txBody>
          <a:bodyPr wrap="square" lIns="0" tIns="0" rIns="0" bIns="0" rtlCol="0" anchor="t"/>
          <a:lstStyle/>
          <a:p>
            <a:pPr algn="ctr" indent="0" marL="0">
              <a:buNone/>
            </a:pPr>
            <a:r>
              <a:rPr lang="en-US" sz="1100" dirty="0">
                <a:solidFill>
                  <a:srgbClr val="1A1A1A"/>
                </a:solidFill>
                <a:latin typeface="Calibri" pitchFamily="34" charset="0"/>
                <a:ea typeface="Calibri" pitchFamily="34" charset="-122"/>
                <a:cs typeface="Calibri" pitchFamily="34" charset="-120"/>
              </a:rPr>
              <a:t>CI documentation, change classification support, CSA system management, baseline maintenance</a:t>
            </a:r>
            <a:endParaRPr lang="en-US" sz="1100" dirty="0"/>
          </a:p>
        </p:txBody>
      </p:sp>
      <p:sp>
        <p:nvSpPr>
          <p:cNvPr id="22" name="Shape 20"/>
          <p:cNvSpPr/>
          <p:nvPr/>
        </p:nvSpPr>
        <p:spPr>
          <a:xfrm>
            <a:off x="6135624" y="1783080"/>
            <a:ext cx="2697480" cy="4160520"/>
          </a:xfrm>
          <a:prstGeom prst="rect">
            <a:avLst/>
          </a:prstGeom>
          <a:solidFill>
            <a:srgbClr val="FFFFFF"/>
          </a:solidFill>
          <a:ln w="19050">
            <a:solidFill>
              <a:srgbClr val="C00000"/>
            </a:solidFill>
            <a:prstDash val="solid"/>
          </a:ln>
        </p:spPr>
      </p:sp>
      <p:sp>
        <p:nvSpPr>
          <p:cNvPr id="23" name="Shape 21"/>
          <p:cNvSpPr/>
          <p:nvPr/>
        </p:nvSpPr>
        <p:spPr>
          <a:xfrm>
            <a:off x="6135624" y="1783080"/>
            <a:ext cx="2697480" cy="457200"/>
          </a:xfrm>
          <a:prstGeom prst="rect">
            <a:avLst/>
          </a:prstGeom>
          <a:solidFill>
            <a:srgbClr val="C00000"/>
          </a:solidFill>
          <a:ln w="12700">
            <a:solidFill>
              <a:srgbClr val="C00000"/>
            </a:solidFill>
            <a:prstDash val="solid"/>
          </a:ln>
        </p:spPr>
      </p:sp>
      <p:sp>
        <p:nvSpPr>
          <p:cNvPr id="24" name="Text 22"/>
          <p:cNvSpPr/>
          <p:nvPr/>
        </p:nvSpPr>
        <p:spPr>
          <a:xfrm>
            <a:off x="6135624" y="1828800"/>
            <a:ext cx="2697480" cy="365760"/>
          </a:xfrm>
          <a:prstGeom prst="rect">
            <a:avLst/>
          </a:prstGeom>
          <a:noFill/>
          <a:ln/>
        </p:spPr>
        <p:txBody>
          <a:bodyPr wrap="square" lIns="0" tIns="0" rIns="0" bIns="0" rtlCol="0" anchor="ctr"/>
          <a:lstStyle/>
          <a:p>
            <a:pPr algn="ctr" indent="0" marL="0">
              <a:buNone/>
            </a:pPr>
            <a:r>
              <a:rPr lang="en-US" sz="1400" b="1" spc="600" kern="0" dirty="0">
                <a:solidFill>
                  <a:srgbClr val="FFFFFF"/>
                </a:solidFill>
                <a:latin typeface="Calibri" pitchFamily="34" charset="0"/>
                <a:ea typeface="Calibri" pitchFamily="34" charset="-122"/>
                <a:cs typeface="Calibri" pitchFamily="34" charset="-120"/>
              </a:rPr>
              <a:t>TIER 3</a:t>
            </a:r>
            <a:endParaRPr lang="en-US" sz="1400" dirty="0"/>
          </a:p>
        </p:txBody>
      </p:sp>
      <p:sp>
        <p:nvSpPr>
          <p:cNvPr id="25" name="Text 23"/>
          <p:cNvSpPr/>
          <p:nvPr/>
        </p:nvSpPr>
        <p:spPr>
          <a:xfrm>
            <a:off x="6318504" y="2377440"/>
            <a:ext cx="2331720" cy="640080"/>
          </a:xfrm>
          <a:prstGeom prst="rect">
            <a:avLst/>
          </a:prstGeom>
          <a:noFill/>
          <a:ln/>
        </p:spPr>
        <p:txBody>
          <a:bodyPr wrap="square" lIns="0" tIns="0" rIns="0" bIns="0" rtlCol="0" anchor="ctr"/>
          <a:lstStyle/>
          <a:p>
            <a:pPr algn="ctr" indent="0" marL="0">
              <a:buNone/>
            </a:pPr>
            <a:r>
              <a:rPr lang="en-US" sz="1700" b="1" dirty="0">
                <a:solidFill>
                  <a:srgbClr val="1E2761"/>
                </a:solidFill>
                <a:latin typeface="Georgia" pitchFamily="34" charset="0"/>
                <a:ea typeface="Georgia" pitchFamily="34" charset="-122"/>
                <a:cs typeface="Georgia" pitchFamily="34" charset="-120"/>
              </a:rPr>
              <a:t>CM Engineer</a:t>
            </a:r>
            <a:endParaRPr lang="en-US" sz="1700" dirty="0"/>
          </a:p>
        </p:txBody>
      </p:sp>
      <p:sp>
        <p:nvSpPr>
          <p:cNvPr id="26" name="Shape 24"/>
          <p:cNvSpPr/>
          <p:nvPr/>
        </p:nvSpPr>
        <p:spPr>
          <a:xfrm>
            <a:off x="6592824" y="3108960"/>
            <a:ext cx="1783080" cy="0"/>
          </a:xfrm>
          <a:prstGeom prst="line">
            <a:avLst/>
          </a:prstGeom>
          <a:noFill/>
          <a:ln w="12700">
            <a:solidFill>
              <a:srgbClr val="C00000"/>
            </a:solidFill>
            <a:prstDash val="solid"/>
          </a:ln>
        </p:spPr>
      </p:sp>
      <p:sp>
        <p:nvSpPr>
          <p:cNvPr id="27" name="Text 25"/>
          <p:cNvSpPr/>
          <p:nvPr/>
        </p:nvSpPr>
        <p:spPr>
          <a:xfrm>
            <a:off x="6318504" y="3246120"/>
            <a:ext cx="2331720" cy="274320"/>
          </a:xfrm>
          <a:prstGeom prst="rect">
            <a:avLst/>
          </a:prstGeom>
          <a:noFill/>
          <a:ln/>
        </p:spPr>
        <p:txBody>
          <a:bodyPr wrap="square" lIns="0" tIns="0" rIns="0" bIns="0" rtlCol="0" anchor="ctr"/>
          <a:lstStyle/>
          <a:p>
            <a:pPr algn="ctr" indent="0" marL="0">
              <a:buNone/>
            </a:pPr>
            <a:r>
              <a:rPr lang="en-US" sz="1000" b="1" spc="400" kern="0" dirty="0">
                <a:solidFill>
                  <a:srgbClr val="64748B"/>
                </a:solidFill>
                <a:latin typeface="Calibri" pitchFamily="34" charset="0"/>
                <a:ea typeface="Calibri" pitchFamily="34" charset="-122"/>
                <a:cs typeface="Calibri" pitchFamily="34" charset="-120"/>
              </a:rPr>
              <a:t>CREDENTIAL</a:t>
            </a:r>
            <a:endParaRPr lang="en-US" sz="1000" dirty="0"/>
          </a:p>
        </p:txBody>
      </p:sp>
      <p:sp>
        <p:nvSpPr>
          <p:cNvPr id="28" name="Text 26"/>
          <p:cNvSpPr/>
          <p:nvPr/>
        </p:nvSpPr>
        <p:spPr>
          <a:xfrm>
            <a:off x="6318504" y="3520440"/>
            <a:ext cx="2331720" cy="640080"/>
          </a:xfrm>
          <a:prstGeom prst="rect">
            <a:avLst/>
          </a:prstGeom>
          <a:noFill/>
          <a:ln/>
        </p:spPr>
        <p:txBody>
          <a:bodyPr wrap="square" lIns="0" tIns="0" rIns="0" bIns="0" rtlCol="0" anchor="t"/>
          <a:lstStyle/>
          <a:p>
            <a:pPr algn="ctr" indent="0" marL="0">
              <a:buNone/>
            </a:pPr>
            <a:r>
              <a:rPr lang="en-US" sz="1300" b="1" dirty="0">
                <a:solidFill>
                  <a:srgbClr val="C00000"/>
                </a:solidFill>
                <a:latin typeface="Calibri" pitchFamily="34" charset="0"/>
                <a:ea typeface="Calibri" pitchFamily="34" charset="-122"/>
                <a:cs typeface="Calibri" pitchFamily="34" charset="-120"/>
              </a:rPr>
              <a:t>B.S.E. or equivalent</a:t>
            </a:r>
            <a:endParaRPr lang="en-US" sz="1300" dirty="0"/>
          </a:p>
        </p:txBody>
      </p:sp>
      <p:sp>
        <p:nvSpPr>
          <p:cNvPr id="29" name="Text 27"/>
          <p:cNvSpPr/>
          <p:nvPr/>
        </p:nvSpPr>
        <p:spPr>
          <a:xfrm>
            <a:off x="6318504" y="4251960"/>
            <a:ext cx="2331720" cy="274320"/>
          </a:xfrm>
          <a:prstGeom prst="rect">
            <a:avLst/>
          </a:prstGeom>
          <a:noFill/>
          <a:ln/>
        </p:spPr>
        <p:txBody>
          <a:bodyPr wrap="square" lIns="0" tIns="0" rIns="0" bIns="0" rtlCol="0" anchor="ctr"/>
          <a:lstStyle/>
          <a:p>
            <a:pPr algn="ctr" indent="0" marL="0">
              <a:buNone/>
            </a:pPr>
            <a:r>
              <a:rPr lang="en-US" sz="1000" b="1" spc="400" kern="0" dirty="0">
                <a:solidFill>
                  <a:srgbClr val="64748B"/>
                </a:solidFill>
                <a:latin typeface="Calibri" pitchFamily="34" charset="0"/>
                <a:ea typeface="Calibri" pitchFamily="34" charset="-122"/>
                <a:cs typeface="Calibri" pitchFamily="34" charset="-120"/>
              </a:rPr>
              <a:t>SCOPE</a:t>
            </a:r>
            <a:endParaRPr lang="en-US" sz="1000" dirty="0"/>
          </a:p>
        </p:txBody>
      </p:sp>
      <p:sp>
        <p:nvSpPr>
          <p:cNvPr id="30" name="Text 28"/>
          <p:cNvSpPr/>
          <p:nvPr/>
        </p:nvSpPr>
        <p:spPr>
          <a:xfrm>
            <a:off x="6318504" y="4526280"/>
            <a:ext cx="2331720" cy="1325880"/>
          </a:xfrm>
          <a:prstGeom prst="rect">
            <a:avLst/>
          </a:prstGeom>
          <a:noFill/>
          <a:ln/>
        </p:spPr>
        <p:txBody>
          <a:bodyPr wrap="square" lIns="0" tIns="0" rIns="0" bIns="0" rtlCol="0" anchor="t"/>
          <a:lstStyle/>
          <a:p>
            <a:pPr algn="ctr" indent="0" marL="0">
              <a:buNone/>
            </a:pPr>
            <a:r>
              <a:rPr lang="en-US" sz="1100" dirty="0">
                <a:solidFill>
                  <a:srgbClr val="1A1A1A"/>
                </a:solidFill>
                <a:latin typeface="Calibri" pitchFamily="34" charset="0"/>
                <a:ea typeface="Calibri" pitchFamily="34" charset="-122"/>
                <a:cs typeface="Calibri" pitchFamily="34" charset="-120"/>
              </a:rPr>
              <a:t>CI selection, ECP classification, FCA/PCA lead, baseline establishment, ICWG</a:t>
            </a:r>
            <a:endParaRPr lang="en-US" sz="1100" dirty="0"/>
          </a:p>
        </p:txBody>
      </p:sp>
      <p:sp>
        <p:nvSpPr>
          <p:cNvPr id="31" name="Shape 29"/>
          <p:cNvSpPr/>
          <p:nvPr/>
        </p:nvSpPr>
        <p:spPr>
          <a:xfrm>
            <a:off x="8951976" y="1783080"/>
            <a:ext cx="2697480" cy="4160520"/>
          </a:xfrm>
          <a:prstGeom prst="rect">
            <a:avLst/>
          </a:prstGeom>
          <a:solidFill>
            <a:srgbClr val="FFFFFF"/>
          </a:solidFill>
          <a:ln w="19050">
            <a:solidFill>
              <a:srgbClr val="1E2761"/>
            </a:solidFill>
            <a:prstDash val="solid"/>
          </a:ln>
        </p:spPr>
      </p:sp>
      <p:sp>
        <p:nvSpPr>
          <p:cNvPr id="32" name="Shape 30"/>
          <p:cNvSpPr/>
          <p:nvPr/>
        </p:nvSpPr>
        <p:spPr>
          <a:xfrm>
            <a:off x="8951976" y="1783080"/>
            <a:ext cx="2697480" cy="457200"/>
          </a:xfrm>
          <a:prstGeom prst="rect">
            <a:avLst/>
          </a:prstGeom>
          <a:solidFill>
            <a:srgbClr val="1E2761"/>
          </a:solidFill>
          <a:ln w="12700">
            <a:solidFill>
              <a:srgbClr val="1E2761"/>
            </a:solidFill>
            <a:prstDash val="solid"/>
          </a:ln>
        </p:spPr>
      </p:sp>
      <p:sp>
        <p:nvSpPr>
          <p:cNvPr id="33" name="Text 31"/>
          <p:cNvSpPr/>
          <p:nvPr/>
        </p:nvSpPr>
        <p:spPr>
          <a:xfrm>
            <a:off x="8951976" y="1828800"/>
            <a:ext cx="2697480" cy="365760"/>
          </a:xfrm>
          <a:prstGeom prst="rect">
            <a:avLst/>
          </a:prstGeom>
          <a:noFill/>
          <a:ln/>
        </p:spPr>
        <p:txBody>
          <a:bodyPr wrap="square" lIns="0" tIns="0" rIns="0" bIns="0" rtlCol="0" anchor="ctr"/>
          <a:lstStyle/>
          <a:p>
            <a:pPr algn="ctr" indent="0" marL="0">
              <a:buNone/>
            </a:pPr>
            <a:r>
              <a:rPr lang="en-US" sz="1400" b="1" spc="600" kern="0" dirty="0">
                <a:solidFill>
                  <a:srgbClr val="FFFFFF"/>
                </a:solidFill>
                <a:latin typeface="Calibri" pitchFamily="34" charset="0"/>
                <a:ea typeface="Calibri" pitchFamily="34" charset="-122"/>
                <a:cs typeface="Calibri" pitchFamily="34" charset="-120"/>
              </a:rPr>
              <a:t>TIER 4</a:t>
            </a:r>
            <a:endParaRPr lang="en-US" sz="1400" dirty="0"/>
          </a:p>
        </p:txBody>
      </p:sp>
      <p:sp>
        <p:nvSpPr>
          <p:cNvPr id="34" name="Text 32"/>
          <p:cNvSpPr/>
          <p:nvPr/>
        </p:nvSpPr>
        <p:spPr>
          <a:xfrm>
            <a:off x="9134856" y="2377440"/>
            <a:ext cx="2331720" cy="640080"/>
          </a:xfrm>
          <a:prstGeom prst="rect">
            <a:avLst/>
          </a:prstGeom>
          <a:noFill/>
          <a:ln/>
        </p:spPr>
        <p:txBody>
          <a:bodyPr wrap="square" lIns="0" tIns="0" rIns="0" bIns="0" rtlCol="0" anchor="ctr"/>
          <a:lstStyle/>
          <a:p>
            <a:pPr algn="ctr" indent="0" marL="0">
              <a:buNone/>
            </a:pPr>
            <a:r>
              <a:rPr lang="en-US" sz="1700" b="1" dirty="0">
                <a:solidFill>
                  <a:srgbClr val="1E2761"/>
                </a:solidFill>
                <a:latin typeface="Georgia" pitchFamily="34" charset="0"/>
                <a:ea typeface="Georgia" pitchFamily="34" charset="-122"/>
                <a:cs typeface="Georgia" pitchFamily="34" charset="-120"/>
              </a:rPr>
              <a:t>Senior CM / SME</a:t>
            </a:r>
            <a:endParaRPr lang="en-US" sz="1700" dirty="0"/>
          </a:p>
        </p:txBody>
      </p:sp>
      <p:sp>
        <p:nvSpPr>
          <p:cNvPr id="35" name="Shape 33"/>
          <p:cNvSpPr/>
          <p:nvPr/>
        </p:nvSpPr>
        <p:spPr>
          <a:xfrm>
            <a:off x="9409176" y="3108960"/>
            <a:ext cx="1783080" cy="0"/>
          </a:xfrm>
          <a:prstGeom prst="line">
            <a:avLst/>
          </a:prstGeom>
          <a:noFill/>
          <a:ln w="12700">
            <a:solidFill>
              <a:srgbClr val="1E2761"/>
            </a:solidFill>
            <a:prstDash val="solid"/>
          </a:ln>
        </p:spPr>
      </p:sp>
      <p:sp>
        <p:nvSpPr>
          <p:cNvPr id="36" name="Text 34"/>
          <p:cNvSpPr/>
          <p:nvPr/>
        </p:nvSpPr>
        <p:spPr>
          <a:xfrm>
            <a:off x="9134856" y="3246120"/>
            <a:ext cx="2331720" cy="274320"/>
          </a:xfrm>
          <a:prstGeom prst="rect">
            <a:avLst/>
          </a:prstGeom>
          <a:noFill/>
          <a:ln/>
        </p:spPr>
        <p:txBody>
          <a:bodyPr wrap="square" lIns="0" tIns="0" rIns="0" bIns="0" rtlCol="0" anchor="ctr"/>
          <a:lstStyle/>
          <a:p>
            <a:pPr algn="ctr" indent="0" marL="0">
              <a:buNone/>
            </a:pPr>
            <a:r>
              <a:rPr lang="en-US" sz="1000" b="1" spc="400" kern="0" dirty="0">
                <a:solidFill>
                  <a:srgbClr val="64748B"/>
                </a:solidFill>
                <a:latin typeface="Calibri" pitchFamily="34" charset="0"/>
                <a:ea typeface="Calibri" pitchFamily="34" charset="-122"/>
                <a:cs typeface="Calibri" pitchFamily="34" charset="-120"/>
              </a:rPr>
              <a:t>CREDENTIAL</a:t>
            </a:r>
            <a:endParaRPr lang="en-US" sz="1000" dirty="0"/>
          </a:p>
        </p:txBody>
      </p:sp>
      <p:sp>
        <p:nvSpPr>
          <p:cNvPr id="37" name="Text 35"/>
          <p:cNvSpPr/>
          <p:nvPr/>
        </p:nvSpPr>
        <p:spPr>
          <a:xfrm>
            <a:off x="9134856" y="3520440"/>
            <a:ext cx="2331720" cy="640080"/>
          </a:xfrm>
          <a:prstGeom prst="rect">
            <a:avLst/>
          </a:prstGeom>
          <a:noFill/>
          <a:ln/>
        </p:spPr>
        <p:txBody>
          <a:bodyPr wrap="square" lIns="0" tIns="0" rIns="0" bIns="0" rtlCol="0" anchor="t"/>
          <a:lstStyle/>
          <a:p>
            <a:pPr algn="ctr" indent="0" marL="0">
              <a:buNone/>
            </a:pPr>
            <a:r>
              <a:rPr lang="en-US" sz="1300" b="1" dirty="0">
                <a:solidFill>
                  <a:srgbClr val="1E2761"/>
                </a:solidFill>
                <a:latin typeface="Calibri" pitchFamily="34" charset="0"/>
                <a:ea typeface="Calibri" pitchFamily="34" charset="-122"/>
                <a:cs typeface="Calibri" pitchFamily="34" charset="-120"/>
              </a:rPr>
              <a:t>Advanced degree or equivalent (incl. non-traditional)</a:t>
            </a:r>
            <a:endParaRPr lang="en-US" sz="1300" dirty="0"/>
          </a:p>
        </p:txBody>
      </p:sp>
      <p:sp>
        <p:nvSpPr>
          <p:cNvPr id="38" name="Text 36"/>
          <p:cNvSpPr/>
          <p:nvPr/>
        </p:nvSpPr>
        <p:spPr>
          <a:xfrm>
            <a:off x="9134856" y="4251960"/>
            <a:ext cx="2331720" cy="274320"/>
          </a:xfrm>
          <a:prstGeom prst="rect">
            <a:avLst/>
          </a:prstGeom>
          <a:noFill/>
          <a:ln/>
        </p:spPr>
        <p:txBody>
          <a:bodyPr wrap="square" lIns="0" tIns="0" rIns="0" bIns="0" rtlCol="0" anchor="ctr"/>
          <a:lstStyle/>
          <a:p>
            <a:pPr algn="ctr" indent="0" marL="0">
              <a:buNone/>
            </a:pPr>
            <a:r>
              <a:rPr lang="en-US" sz="1000" b="1" spc="400" kern="0" dirty="0">
                <a:solidFill>
                  <a:srgbClr val="64748B"/>
                </a:solidFill>
                <a:latin typeface="Calibri" pitchFamily="34" charset="0"/>
                <a:ea typeface="Calibri" pitchFamily="34" charset="-122"/>
                <a:cs typeface="Calibri" pitchFamily="34" charset="-120"/>
              </a:rPr>
              <a:t>SCOPE</a:t>
            </a:r>
            <a:endParaRPr lang="en-US" sz="1000" dirty="0"/>
          </a:p>
        </p:txBody>
      </p:sp>
      <p:sp>
        <p:nvSpPr>
          <p:cNvPr id="39" name="Text 37"/>
          <p:cNvSpPr/>
          <p:nvPr/>
        </p:nvSpPr>
        <p:spPr>
          <a:xfrm>
            <a:off x="9134856" y="4526280"/>
            <a:ext cx="2331720" cy="1325880"/>
          </a:xfrm>
          <a:prstGeom prst="rect">
            <a:avLst/>
          </a:prstGeom>
          <a:noFill/>
          <a:ln/>
        </p:spPr>
        <p:txBody>
          <a:bodyPr wrap="square" lIns="0" tIns="0" rIns="0" bIns="0" rtlCol="0" anchor="t"/>
          <a:lstStyle/>
          <a:p>
            <a:pPr algn="ctr" indent="0" marL="0">
              <a:buNone/>
            </a:pPr>
            <a:r>
              <a:rPr lang="en-US" sz="1100" dirty="0">
                <a:solidFill>
                  <a:srgbClr val="1A1A1A"/>
                </a:solidFill>
                <a:latin typeface="Calibri" pitchFamily="34" charset="0"/>
                <a:ea typeface="Calibri" pitchFamily="34" charset="-122"/>
                <a:cs typeface="Calibri" pitchFamily="34" charset="-120"/>
              </a:rPr>
              <a:t>Program-level CM strategy, Acquirer relationships, enterprise standards, workforce development</a:t>
            </a:r>
            <a:endParaRPr lang="en-US" sz="1100" dirty="0"/>
          </a:p>
        </p:txBody>
      </p:sp>
      <p:sp>
        <p:nvSpPr>
          <p:cNvPr id="40" name="Shape 38"/>
          <p:cNvSpPr/>
          <p:nvPr/>
        </p:nvSpPr>
        <p:spPr>
          <a:xfrm>
            <a:off x="548640" y="6126480"/>
            <a:ext cx="11064240" cy="365760"/>
          </a:xfrm>
          <a:prstGeom prst="rect">
            <a:avLst/>
          </a:prstGeom>
          <a:solidFill>
            <a:srgbClr val="1E2761"/>
          </a:solidFill>
          <a:ln w="12700">
            <a:solidFill>
              <a:srgbClr val="1E2761"/>
            </a:solidFill>
            <a:prstDash val="solid"/>
          </a:ln>
        </p:spPr>
      </p:sp>
      <p:sp>
        <p:nvSpPr>
          <p:cNvPr id="41" name="Text 39"/>
          <p:cNvSpPr/>
          <p:nvPr/>
        </p:nvSpPr>
        <p:spPr>
          <a:xfrm>
            <a:off x="548640" y="6126480"/>
            <a:ext cx="11064240" cy="365760"/>
          </a:xfrm>
          <a:prstGeom prst="rect">
            <a:avLst/>
          </a:prstGeom>
          <a:noFill/>
          <a:ln/>
        </p:spPr>
        <p:txBody>
          <a:bodyPr wrap="square" lIns="0" tIns="0" rIns="0" bIns="0" rtlCol="0" anchor="ctr"/>
          <a:lstStyle/>
          <a:p>
            <a:pPr algn="ctr" indent="0" marL="0">
              <a:buNone/>
            </a:pPr>
            <a:r>
              <a:rPr lang="en-US" sz="1200" i="1" dirty="0">
                <a:solidFill>
                  <a:srgbClr val="FFFFFF"/>
                </a:solidFill>
                <a:latin typeface="Calibri" pitchFamily="34" charset="0"/>
                <a:ea typeface="Calibri" pitchFamily="34" charset="-122"/>
                <a:cs typeface="Calibri" pitchFamily="34" charset="-120"/>
              </a:rPr>
              <a:t>Tier 4 explicitly recognizes non-traditional advanced degrees with domain proximity (e.g., Ph.D. in History of Nuclear Manufacturing).</a:t>
            </a:r>
            <a:endParaRPr lang="en-US" sz="1200" dirty="0"/>
          </a:p>
        </p:txBody>
      </p:sp>
      <p:sp>
        <p:nvSpPr>
          <p:cNvPr id="42" name="Text 40"/>
          <p:cNvSpPr/>
          <p:nvPr/>
        </p:nvSpPr>
        <p:spPr>
          <a:xfrm>
            <a:off x="457200" y="6537960"/>
            <a:ext cx="822960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CM Workforce Competency Analysis  |  EIA-649-1</a:t>
            </a:r>
            <a:endParaRPr lang="en-US" sz="900" dirty="0"/>
          </a:p>
        </p:txBody>
      </p:sp>
      <p:sp>
        <p:nvSpPr>
          <p:cNvPr id="43" name="Text 41"/>
          <p:cNvSpPr/>
          <p:nvPr/>
        </p:nvSpPr>
        <p:spPr>
          <a:xfrm>
            <a:off x="10972800" y="6537960"/>
            <a:ext cx="7315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200" b="1" spc="800" kern="0" dirty="0">
                <a:solidFill>
                  <a:srgbClr val="C00000"/>
                </a:solidFill>
                <a:latin typeface="Calibri" pitchFamily="34" charset="0"/>
                <a:ea typeface="Calibri" pitchFamily="34" charset="-122"/>
                <a:cs typeface="Calibri" pitchFamily="34" charset="-120"/>
              </a:rPr>
              <a:t>THE BENCHMARK</a:t>
            </a:r>
            <a:endParaRPr lang="en-US" sz="1200" dirty="0"/>
          </a:p>
        </p:txBody>
      </p:sp>
      <p:sp>
        <p:nvSpPr>
          <p:cNvPr id="3" name="Text 1"/>
          <p:cNvSpPr/>
          <p:nvPr/>
        </p:nvSpPr>
        <p:spPr>
          <a:xfrm>
            <a:off x="548640" y="777240"/>
            <a:ext cx="10972800" cy="64008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Industry Peers Already Require Engineering Degrees</a:t>
            </a:r>
            <a:endParaRPr lang="en-US" sz="3000" dirty="0"/>
          </a:p>
        </p:txBody>
      </p:sp>
      <p:sp>
        <p:nvSpPr>
          <p:cNvPr id="4" name="Text 2"/>
          <p:cNvSpPr/>
          <p:nvPr/>
        </p:nvSpPr>
        <p:spPr>
          <a:xfrm>
            <a:off x="548640" y="1417320"/>
            <a:ext cx="10972800" cy="365760"/>
          </a:xfrm>
          <a:prstGeom prst="rect">
            <a:avLst/>
          </a:prstGeom>
          <a:noFill/>
          <a:ln/>
        </p:spPr>
        <p:txBody>
          <a:bodyPr wrap="square" lIns="0" tIns="0" rIns="0" bIns="0"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Lockheed Martin published CM position requirements (publicly available):</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64240" cy="3200400"/>
        </p:xfrm>
        <a:graphic>
          <a:graphicData uri="http://schemas.openxmlformats.org/drawingml/2006/table">
            <a:tbl>
              <a:tblPr/>
              <a:tblGrid>
                <a:gridCol w="3291840"/>
                <a:gridCol w="5029200"/>
                <a:gridCol w="2743200"/>
              </a:tblGrid>
              <a:tr h="45720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Position Level</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Lockheed Martin Requirement (Published)</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Our Current Practice</a:t>
                      </a:r>
                      <a:endParaRPr lang="en-US" sz="13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2761"/>
                    </a:solidFill>
                  </a:tcPr>
                </a:tc>
              </a:tr>
              <a:tr h="502920">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CM Intern</a:t>
                      </a:r>
                      <a:endParaRPr lang="en-US" sz="12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Pursuing bachelor's STEM degree required</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200" b="1" dirty="0">
                          <a:solidFill>
                            <a:srgbClr val="C00000"/>
                          </a:solidFill>
                          <a:latin typeface="Calibri" pitchFamily="34" charset="0"/>
                          <a:ea typeface="Calibri" pitchFamily="34" charset="-122"/>
                          <a:cs typeface="Calibri" pitchFamily="34" charset="-120"/>
                        </a:rPr>
                        <a:t>A.A.S.</a:t>
                      </a:r>
                      <a:endParaRPr lang="en-US" sz="12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02920">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CM Engineer — Early Career</a:t>
                      </a:r>
                      <a:endParaRPr lang="en-US" sz="12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7F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Bachelor's or A.A.S. in engineering field</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7FA"/>
                    </a:solidFill>
                  </a:tcPr>
                </a:tc>
                <a:tc>
                  <a:txBody>
                    <a:bodyPr/>
                    <a:lstStyle/>
                    <a:p>
                      <a:pPr algn="ctr" indent="0" marL="0">
                        <a:buNone/>
                      </a:pPr>
                      <a:r>
                        <a:rPr lang="en-US" sz="1200" b="1" dirty="0">
                          <a:solidFill>
                            <a:srgbClr val="C00000"/>
                          </a:solidFill>
                          <a:latin typeface="Calibri" pitchFamily="34" charset="0"/>
                          <a:ea typeface="Calibri" pitchFamily="34" charset="-122"/>
                          <a:cs typeface="Calibri" pitchFamily="34" charset="-120"/>
                        </a:rPr>
                        <a:t>A.A.S.</a:t>
                      </a:r>
                      <a:endParaRPr lang="en-US" sz="12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7FA"/>
                    </a:solidFill>
                  </a:tcPr>
                </a:tc>
              </a:tr>
              <a:tr h="502920">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CM Engineer — Level 2</a:t>
                      </a:r>
                      <a:endParaRPr lang="en-US" sz="12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Bachelor's or above or equivalent experience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200" b="1" dirty="0">
                          <a:solidFill>
                            <a:srgbClr val="C00000"/>
                          </a:solidFill>
                          <a:latin typeface="Calibri" pitchFamily="34" charset="0"/>
                          <a:ea typeface="Calibri" pitchFamily="34" charset="-122"/>
                          <a:cs typeface="Calibri" pitchFamily="34" charset="-120"/>
                        </a:rPr>
                        <a:t>A.A.S.</a:t>
                      </a:r>
                      <a:endParaRPr lang="en-US" sz="12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502920">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CM Engineer — Level 3 (Skunk Works)</a:t>
                      </a:r>
                      <a:endParaRPr lang="en-US" sz="12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7FA"/>
                    </a:solidFill>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Bachelor's degree or equivalent experience + TS clearance</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7FA"/>
                    </a:solidFill>
                  </a:tcPr>
                </a:tc>
                <a:tc>
                  <a:txBody>
                    <a:bodyPr/>
                    <a:lstStyle/>
                    <a:p>
                      <a:pPr algn="ctr" indent="0" marL="0">
                        <a:buNone/>
                      </a:pPr>
                      <a:r>
                        <a:rPr lang="en-US" sz="1200" b="1" dirty="0">
                          <a:solidFill>
                            <a:srgbClr val="C00000"/>
                          </a:solidFill>
                          <a:latin typeface="Calibri" pitchFamily="34" charset="0"/>
                          <a:ea typeface="Calibri" pitchFamily="34" charset="-122"/>
                          <a:cs typeface="Calibri" pitchFamily="34" charset="-120"/>
                        </a:rPr>
                        <a:t>A.A.S.</a:t>
                      </a:r>
                      <a:endParaRPr lang="en-US" sz="12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5F7FA"/>
                    </a:solidFill>
                  </a:tcPr>
                </a:tc>
              </a:tr>
              <a:tr h="502920">
                <a:tc>
                  <a:txBody>
                    <a:bodyPr/>
                    <a:lstStyle/>
                    <a:p>
                      <a:pPr indent="0" marL="0">
                        <a:buNone/>
                      </a:pPr>
                      <a:r>
                        <a:rPr lang="en-US" sz="1200" b="1" dirty="0">
                          <a:solidFill>
                            <a:srgbClr val="1E2761"/>
                          </a:solidFill>
                          <a:latin typeface="Calibri" pitchFamily="34" charset="0"/>
                          <a:ea typeface="Calibri" pitchFamily="34" charset="-122"/>
                          <a:cs typeface="Calibri" pitchFamily="34" charset="-120"/>
                        </a:rPr>
                        <a:t>Software CM Engineer (Mid-Career)</a:t>
                      </a:r>
                      <a:endParaRPr lang="en-US" sz="12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1A1A1A"/>
                          </a:solidFill>
                          <a:latin typeface="Calibri" pitchFamily="34" charset="0"/>
                          <a:ea typeface="Calibri" pitchFamily="34" charset="-122"/>
                          <a:cs typeface="Calibri" pitchFamily="34" charset="-120"/>
                        </a:rPr>
                        <a:t>B.S. software engineering + 3 yrs, or M.S. + 1 yr</a:t>
                      </a:r>
                      <a:endParaRPr lang="en-US" sz="11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algn="ctr" indent="0" marL="0">
                        <a:buNone/>
                      </a:pPr>
                      <a:r>
                        <a:rPr lang="en-US" sz="1200" b="1" dirty="0">
                          <a:solidFill>
                            <a:srgbClr val="C00000"/>
                          </a:solidFill>
                          <a:latin typeface="Calibri" pitchFamily="34" charset="0"/>
                          <a:ea typeface="Calibri" pitchFamily="34" charset="-122"/>
                          <a:cs typeface="Calibri" pitchFamily="34" charset="-120"/>
                        </a:rPr>
                        <a:t>A.A.S.</a:t>
                      </a:r>
                      <a:endParaRPr lang="en-US" sz="1200" dirty="0">
                        <a:latin typeface="Calibri" charset="0"/>
                        <a:ea typeface="Calibri" charset="0"/>
                        <a:cs typeface="Calibri" charset="0"/>
                      </a:endParaRPr>
                    </a:p>
                  </a:txBody>
                  <a:tcPr marL="91440" marR="91440" marT="45720" marB="4572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6" name="Shape 3"/>
          <p:cNvSpPr/>
          <p:nvPr/>
        </p:nvSpPr>
        <p:spPr>
          <a:xfrm>
            <a:off x="548640" y="5349240"/>
            <a:ext cx="11064240" cy="1143000"/>
          </a:xfrm>
          <a:prstGeom prst="rect">
            <a:avLst/>
          </a:prstGeom>
          <a:solidFill>
            <a:srgbClr val="F5F7FA"/>
          </a:solidFill>
          <a:ln w="12700">
            <a:solidFill>
              <a:srgbClr val="E2E8F0"/>
            </a:solidFill>
            <a:prstDash val="solid"/>
          </a:ln>
        </p:spPr>
      </p:sp>
      <p:sp>
        <p:nvSpPr>
          <p:cNvPr id="7" name="Shape 4"/>
          <p:cNvSpPr/>
          <p:nvPr/>
        </p:nvSpPr>
        <p:spPr>
          <a:xfrm>
            <a:off x="548640" y="5349240"/>
            <a:ext cx="91440" cy="1143000"/>
          </a:xfrm>
          <a:prstGeom prst="rect">
            <a:avLst/>
          </a:prstGeom>
          <a:solidFill>
            <a:srgbClr val="C00000"/>
          </a:solidFill>
          <a:ln w="12700">
            <a:solidFill>
              <a:srgbClr val="C00000"/>
            </a:solidFill>
            <a:prstDash val="solid"/>
          </a:ln>
        </p:spPr>
      </p:sp>
      <p:sp>
        <p:nvSpPr>
          <p:cNvPr id="8" name="Text 5"/>
          <p:cNvSpPr/>
          <p:nvPr/>
        </p:nvSpPr>
        <p:spPr>
          <a:xfrm>
            <a:off x="777240" y="5440680"/>
            <a:ext cx="10789920" cy="274320"/>
          </a:xfrm>
          <a:prstGeom prst="rect">
            <a:avLst/>
          </a:prstGeom>
          <a:noFill/>
          <a:ln/>
        </p:spPr>
        <p:txBody>
          <a:bodyPr wrap="square" lIns="0" tIns="0" rIns="0" bIns="0" rtlCol="0" anchor="ctr"/>
          <a:lstStyle/>
          <a:p>
            <a:pPr indent="0" marL="0">
              <a:buNone/>
            </a:pPr>
            <a:r>
              <a:rPr lang="en-US" sz="1300" b="1" spc="400" kern="0" dirty="0">
                <a:solidFill>
                  <a:srgbClr val="C00000"/>
                </a:solidFill>
                <a:latin typeface="Calibri" pitchFamily="34" charset="0"/>
                <a:ea typeface="Calibri" pitchFamily="34" charset="-122"/>
                <a:cs typeface="Calibri" pitchFamily="34" charset="-120"/>
              </a:rPr>
              <a:t>Competitive Implications</a:t>
            </a:r>
            <a:endParaRPr lang="en-US" sz="1300" dirty="0"/>
          </a:p>
        </p:txBody>
      </p:sp>
      <p:sp>
        <p:nvSpPr>
          <p:cNvPr id="9" name="Text 6"/>
          <p:cNvSpPr/>
          <p:nvPr/>
        </p:nvSpPr>
        <p:spPr>
          <a:xfrm>
            <a:off x="777240" y="5715000"/>
            <a:ext cx="10789920" cy="731520"/>
          </a:xfrm>
          <a:prstGeom prst="rect">
            <a:avLst/>
          </a:prstGeom>
          <a:noFill/>
          <a:ln/>
        </p:spPr>
        <p:txBody>
          <a:bodyPr wrap="square" lIns="0" tIns="0" rIns="0" bIns="0" rtlCol="0" anchor="t"/>
          <a:lstStyle/>
          <a:p>
            <a:pPr indent="0" marL="0">
              <a:buNone/>
            </a:pPr>
            <a:r>
              <a:rPr lang="en-US" sz="1200" dirty="0">
                <a:solidFill>
                  <a:srgbClr val="1A1A1A"/>
                </a:solidFill>
                <a:latin typeface="Calibri" pitchFamily="34" charset="0"/>
                <a:ea typeface="Calibri" pitchFamily="34" charset="-122"/>
                <a:cs typeface="Calibri" pitchFamily="34" charset="-120"/>
              </a:rPr>
              <a:t>(1) Peer companies are structurally staffed to meet the same EIA-649-1 obligations we are not.  (2) Our compensation and career structure cannot retain CM talent that has engineering-level career paths elsewhere.  (3) When a customer audits our CM organization, the gap is visible.</a:t>
            </a:r>
            <a:endParaRPr lang="en-US" sz="1200" dirty="0"/>
          </a:p>
        </p:txBody>
      </p:sp>
      <p:sp>
        <p:nvSpPr>
          <p:cNvPr id="10" name="Text 7"/>
          <p:cNvSpPr/>
          <p:nvPr/>
        </p:nvSpPr>
        <p:spPr>
          <a:xfrm>
            <a:off x="457200" y="6537960"/>
            <a:ext cx="822960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CM Workforce Competency Analysis  |  EIA-649-1</a:t>
            </a:r>
            <a:endParaRPr lang="en-US" sz="900" dirty="0"/>
          </a:p>
        </p:txBody>
      </p:sp>
      <p:sp>
        <p:nvSpPr>
          <p:cNvPr id="11" name="Text 8"/>
          <p:cNvSpPr/>
          <p:nvPr/>
        </p:nvSpPr>
        <p:spPr>
          <a:xfrm>
            <a:off x="10972800" y="6537960"/>
            <a:ext cx="7315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200" b="1" spc="800" kern="0" dirty="0">
                <a:solidFill>
                  <a:srgbClr val="C00000"/>
                </a:solidFill>
                <a:latin typeface="Calibri" pitchFamily="34" charset="0"/>
                <a:ea typeface="Calibri" pitchFamily="34" charset="-122"/>
                <a:cs typeface="Calibri" pitchFamily="34" charset="-120"/>
              </a:rPr>
              <a:t>WHEN CM FAILS — PART 1</a:t>
            </a:r>
            <a:endParaRPr lang="en-US" sz="1200" dirty="0"/>
          </a:p>
        </p:txBody>
      </p:sp>
      <p:sp>
        <p:nvSpPr>
          <p:cNvPr id="3" name="Text 1"/>
          <p:cNvSpPr/>
          <p:nvPr/>
        </p:nvSpPr>
        <p:spPr>
          <a:xfrm>
            <a:off x="548640" y="777240"/>
            <a:ext cx="10972800" cy="64008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Real Aircraft Lost to CSA and Verification Failures</a:t>
            </a:r>
            <a:endParaRPr lang="en-US" sz="3000" dirty="0"/>
          </a:p>
        </p:txBody>
      </p:sp>
      <p:sp>
        <p:nvSpPr>
          <p:cNvPr id="4" name="Shape 2"/>
          <p:cNvSpPr/>
          <p:nvPr/>
        </p:nvSpPr>
        <p:spPr>
          <a:xfrm>
            <a:off x="502920" y="1691640"/>
            <a:ext cx="5577840" cy="4572000"/>
          </a:xfrm>
          <a:prstGeom prst="rect">
            <a:avLst/>
          </a:prstGeom>
          <a:solidFill>
            <a:srgbClr val="F5F7FA"/>
          </a:solidFill>
          <a:ln w="12700">
            <a:solidFill>
              <a:srgbClr val="E2E8F0"/>
            </a:solidFill>
            <a:prstDash val="solid"/>
          </a:ln>
        </p:spPr>
      </p:sp>
      <p:sp>
        <p:nvSpPr>
          <p:cNvPr id="5" name="Shape 3"/>
          <p:cNvSpPr/>
          <p:nvPr/>
        </p:nvSpPr>
        <p:spPr>
          <a:xfrm>
            <a:off x="502920" y="1691640"/>
            <a:ext cx="5577840" cy="365760"/>
          </a:xfrm>
          <a:prstGeom prst="rect">
            <a:avLst/>
          </a:prstGeom>
          <a:solidFill>
            <a:srgbClr val="1E2761"/>
          </a:solidFill>
          <a:ln w="12700">
            <a:solidFill>
              <a:srgbClr val="1E2761"/>
            </a:solidFill>
            <a:prstDash val="solid"/>
          </a:ln>
        </p:spPr>
      </p:sp>
      <p:sp>
        <p:nvSpPr>
          <p:cNvPr id="6" name="Text 4"/>
          <p:cNvSpPr/>
          <p:nvPr/>
        </p:nvSpPr>
        <p:spPr>
          <a:xfrm>
            <a:off x="685800" y="1719072"/>
            <a:ext cx="5212080" cy="32004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B-2 SPIRIT OF KANSAS</a:t>
            </a:r>
            <a:endParaRPr lang="en-US" sz="1400" dirty="0"/>
          </a:p>
        </p:txBody>
      </p:sp>
      <p:sp>
        <p:nvSpPr>
          <p:cNvPr id="7" name="Text 5"/>
          <p:cNvSpPr/>
          <p:nvPr/>
        </p:nvSpPr>
        <p:spPr>
          <a:xfrm>
            <a:off x="685800" y="2148840"/>
            <a:ext cx="5212080" cy="22860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Andersen AFB, Guam · 23 Feb 2008</a:t>
            </a:r>
            <a:endParaRPr lang="en-US" sz="1000" dirty="0"/>
          </a:p>
        </p:txBody>
      </p:sp>
      <p:sp>
        <p:nvSpPr>
          <p:cNvPr id="8" name="Shape 6"/>
          <p:cNvSpPr/>
          <p:nvPr/>
        </p:nvSpPr>
        <p:spPr>
          <a:xfrm>
            <a:off x="685800" y="2468880"/>
            <a:ext cx="5212080" cy="457200"/>
          </a:xfrm>
          <a:prstGeom prst="rect">
            <a:avLst/>
          </a:prstGeom>
          <a:solidFill>
            <a:srgbClr val="C00000"/>
          </a:solidFill>
          <a:ln w="12700">
            <a:solidFill>
              <a:srgbClr val="C00000"/>
            </a:solidFill>
            <a:prstDash val="solid"/>
          </a:ln>
        </p:spPr>
      </p:sp>
      <p:sp>
        <p:nvSpPr>
          <p:cNvPr id="9" name="Text 7"/>
          <p:cNvSpPr/>
          <p:nvPr/>
        </p:nvSpPr>
        <p:spPr>
          <a:xfrm>
            <a:off x="777240" y="246888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$1.4B Loss</a:t>
            </a:r>
            <a:pPr indent="0" marL="0">
              <a:buNone/>
            </a:pPr>
            <a:r>
              <a:rPr lang="en-US" sz="1100" dirty="0">
                <a:solidFill>
                  <a:srgbClr val="FFFFFF"/>
                </a:solidFill>
                <a:latin typeface="Calibri" pitchFamily="34" charset="0"/>
                <a:ea typeface="Calibri" pitchFamily="34" charset="-122"/>
                <a:cs typeface="Calibri" pitchFamily="34" charset="-120"/>
              </a:rPr>
              <a:t>   Both crew ejected · 1 of only 21 B-2s lost</a:t>
            </a:r>
            <a:endParaRPr lang="en-US" sz="1600" dirty="0"/>
          </a:p>
        </p:txBody>
      </p:sp>
      <p:sp>
        <p:nvSpPr>
          <p:cNvPr id="10" name="Text 8"/>
          <p:cNvSpPr/>
          <p:nvPr/>
        </p:nvSpPr>
        <p:spPr>
          <a:xfrm>
            <a:off x="685800" y="3063240"/>
            <a:ext cx="5212080" cy="228600"/>
          </a:xfrm>
          <a:prstGeom prst="rect">
            <a:avLst/>
          </a:prstGeom>
          <a:noFill/>
          <a:ln/>
        </p:spPr>
        <p:txBody>
          <a:bodyPr wrap="square" lIns="0" tIns="0" rIns="0" bIns="0" rtlCol="0" anchor="ctr"/>
          <a:lstStyle/>
          <a:p>
            <a:pPr indent="0" marL="0">
              <a:buNone/>
            </a:pPr>
            <a:r>
              <a:rPr lang="en-US" sz="1000" b="1" spc="400" kern="0" dirty="0">
                <a:solidFill>
                  <a:srgbClr val="1E2761"/>
                </a:solidFill>
                <a:latin typeface="Calibri" pitchFamily="34" charset="0"/>
                <a:ea typeface="Calibri" pitchFamily="34" charset="-122"/>
                <a:cs typeface="Calibri" pitchFamily="34" charset="-120"/>
              </a:rPr>
              <a:t>WHAT HAPPENED</a:t>
            </a:r>
            <a:endParaRPr lang="en-US" sz="1000" dirty="0"/>
          </a:p>
        </p:txBody>
      </p:sp>
      <p:sp>
        <p:nvSpPr>
          <p:cNvPr id="11" name="Text 9"/>
          <p:cNvSpPr/>
          <p:nvPr/>
        </p:nvSpPr>
        <p:spPr>
          <a:xfrm>
            <a:off x="685800" y="3291840"/>
            <a:ext cx="5212080" cy="1097280"/>
          </a:xfrm>
          <a:prstGeom prst="rect">
            <a:avLst/>
          </a:prstGeom>
          <a:noFill/>
          <a:ln/>
        </p:spPr>
        <p:txBody>
          <a:bodyPr wrap="square" lIns="0" tIns="0" rIns="0" bIns="0" rtlCol="0" anchor="t"/>
          <a:lstStyle/>
          <a:p>
            <a:pPr indent="0" marL="0">
              <a:buNone/>
            </a:pPr>
            <a:r>
              <a:rPr lang="en-US" sz="1100" dirty="0">
                <a:solidFill>
                  <a:srgbClr val="1A1A1A"/>
                </a:solidFill>
                <a:latin typeface="Calibri" pitchFamily="34" charset="0"/>
                <a:ea typeface="Calibri" pitchFamily="34" charset="-122"/>
                <a:cs typeface="Calibri" pitchFamily="34" charset="-120"/>
              </a:rPr>
              <a:t>Moisture in 3 of 24 air-data sensors during preflight calibration caused flight computers to receive distorted data. Aircraft pitched up 30° on takeoff, stalled, and crashed.</a:t>
            </a:r>
            <a:endParaRPr lang="en-US" sz="1100" dirty="0"/>
          </a:p>
        </p:txBody>
      </p:sp>
      <p:sp>
        <p:nvSpPr>
          <p:cNvPr id="12" name="Text 10"/>
          <p:cNvSpPr/>
          <p:nvPr/>
        </p:nvSpPr>
        <p:spPr>
          <a:xfrm>
            <a:off x="685800" y="4434840"/>
            <a:ext cx="5212080" cy="228600"/>
          </a:xfrm>
          <a:prstGeom prst="rect">
            <a:avLst/>
          </a:prstGeom>
          <a:noFill/>
          <a:ln/>
        </p:spPr>
        <p:txBody>
          <a:bodyPr wrap="square" lIns="0" tIns="0" rIns="0" bIns="0" rtlCol="0" anchor="ctr"/>
          <a:lstStyle/>
          <a:p>
            <a:pPr indent="0" marL="0">
              <a:buNone/>
            </a:pPr>
            <a:r>
              <a:rPr lang="en-US" sz="1000" b="1" spc="400" kern="0" dirty="0">
                <a:solidFill>
                  <a:srgbClr val="C00000"/>
                </a:solidFill>
                <a:latin typeface="Calibri" pitchFamily="34" charset="0"/>
                <a:ea typeface="Calibri" pitchFamily="34" charset="-122"/>
                <a:cs typeface="Calibri" pitchFamily="34" charset="-120"/>
              </a:rPr>
              <a:t>THE CM FAILURE</a:t>
            </a:r>
            <a:endParaRPr lang="en-US" sz="1000" dirty="0"/>
          </a:p>
        </p:txBody>
      </p:sp>
      <p:sp>
        <p:nvSpPr>
          <p:cNvPr id="13" name="Text 11"/>
          <p:cNvSpPr/>
          <p:nvPr/>
        </p:nvSpPr>
        <p:spPr>
          <a:xfrm>
            <a:off x="685800" y="4663440"/>
            <a:ext cx="5212080" cy="1463040"/>
          </a:xfrm>
          <a:prstGeom prst="rect">
            <a:avLst/>
          </a:prstGeom>
          <a:noFill/>
          <a:ln/>
        </p:spPr>
        <p:txBody>
          <a:bodyPr wrap="square" lIns="0" tIns="0" rIns="0" bIns="0" rtlCol="0" anchor="t"/>
          <a:lstStyle/>
          <a:p>
            <a:pPr indent="0" marL="0">
              <a:buNone/>
            </a:pPr>
            <a:r>
              <a:rPr lang="en-US" sz="1100" dirty="0">
                <a:solidFill>
                  <a:srgbClr val="1A1A1A"/>
                </a:solidFill>
                <a:latin typeface="Calibri" pitchFamily="34" charset="0"/>
                <a:ea typeface="Calibri" pitchFamily="34" charset="-122"/>
                <a:cs typeface="Calibri" pitchFamily="34" charset="-120"/>
              </a:rPr>
              <a:t>A workaround procedure — heating pitot tubes before calibration to evaporate moisture — had been discovered up to 2 years before the accident. It was never formally documented, baselined, or distributed. The AIB explicitly noted: 'the workaround calibration technique was not documented.' This is a textbook §3.2.3 Engineering Release System failure: tribal knowledge that should have been configuration-controlled.</a:t>
            </a:r>
            <a:endParaRPr lang="en-US" sz="1100" dirty="0"/>
          </a:p>
        </p:txBody>
      </p:sp>
      <p:sp>
        <p:nvSpPr>
          <p:cNvPr id="14" name="Text 12"/>
          <p:cNvSpPr/>
          <p:nvPr/>
        </p:nvSpPr>
        <p:spPr>
          <a:xfrm>
            <a:off x="685800" y="5989320"/>
            <a:ext cx="5212080" cy="228600"/>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Source: USAF Accident Investigation Board Report, June 2008</a:t>
            </a:r>
            <a:endParaRPr lang="en-US" sz="800" dirty="0"/>
          </a:p>
        </p:txBody>
      </p:sp>
      <p:sp>
        <p:nvSpPr>
          <p:cNvPr id="15" name="Shape 13"/>
          <p:cNvSpPr/>
          <p:nvPr/>
        </p:nvSpPr>
        <p:spPr>
          <a:xfrm>
            <a:off x="6263640" y="1691640"/>
            <a:ext cx="5577840" cy="4572000"/>
          </a:xfrm>
          <a:prstGeom prst="rect">
            <a:avLst/>
          </a:prstGeom>
          <a:solidFill>
            <a:srgbClr val="F5F7FA"/>
          </a:solidFill>
          <a:ln w="12700">
            <a:solidFill>
              <a:srgbClr val="E2E8F0"/>
            </a:solidFill>
            <a:prstDash val="solid"/>
          </a:ln>
        </p:spPr>
      </p:sp>
      <p:sp>
        <p:nvSpPr>
          <p:cNvPr id="16" name="Shape 14"/>
          <p:cNvSpPr/>
          <p:nvPr/>
        </p:nvSpPr>
        <p:spPr>
          <a:xfrm>
            <a:off x="6263640" y="1691640"/>
            <a:ext cx="5577840" cy="365760"/>
          </a:xfrm>
          <a:prstGeom prst="rect">
            <a:avLst/>
          </a:prstGeom>
          <a:solidFill>
            <a:srgbClr val="1E2761"/>
          </a:solidFill>
          <a:ln w="12700">
            <a:solidFill>
              <a:srgbClr val="1E2761"/>
            </a:solidFill>
            <a:prstDash val="solid"/>
          </a:ln>
        </p:spPr>
      </p:sp>
      <p:sp>
        <p:nvSpPr>
          <p:cNvPr id="17" name="Text 15"/>
          <p:cNvSpPr/>
          <p:nvPr/>
        </p:nvSpPr>
        <p:spPr>
          <a:xfrm>
            <a:off x="6446520" y="1719072"/>
            <a:ext cx="5212080" cy="32004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PARTNAIR FLIGHT 394</a:t>
            </a:r>
            <a:endParaRPr lang="en-US" sz="1400" dirty="0"/>
          </a:p>
        </p:txBody>
      </p:sp>
      <p:sp>
        <p:nvSpPr>
          <p:cNvPr id="18" name="Text 16"/>
          <p:cNvSpPr/>
          <p:nvPr/>
        </p:nvSpPr>
        <p:spPr>
          <a:xfrm>
            <a:off x="6446520" y="2148840"/>
            <a:ext cx="5212080" cy="22860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North Sea · 8 Sep 1989</a:t>
            </a:r>
            <a:endParaRPr lang="en-US" sz="1000" dirty="0"/>
          </a:p>
        </p:txBody>
      </p:sp>
      <p:sp>
        <p:nvSpPr>
          <p:cNvPr id="19" name="Shape 17"/>
          <p:cNvSpPr/>
          <p:nvPr/>
        </p:nvSpPr>
        <p:spPr>
          <a:xfrm>
            <a:off x="6446520" y="2468880"/>
            <a:ext cx="5212080" cy="457200"/>
          </a:xfrm>
          <a:prstGeom prst="rect">
            <a:avLst/>
          </a:prstGeom>
          <a:solidFill>
            <a:srgbClr val="C00000"/>
          </a:solidFill>
          <a:ln w="12700">
            <a:solidFill>
              <a:srgbClr val="C00000"/>
            </a:solidFill>
            <a:prstDash val="solid"/>
          </a:ln>
        </p:spPr>
      </p:sp>
      <p:sp>
        <p:nvSpPr>
          <p:cNvPr id="20" name="Text 18"/>
          <p:cNvSpPr/>
          <p:nvPr/>
        </p:nvSpPr>
        <p:spPr>
          <a:xfrm>
            <a:off x="6537960" y="2468880"/>
            <a:ext cx="5029200" cy="4572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55 Fatalities</a:t>
            </a:r>
            <a:pPr indent="0" marL="0">
              <a:buNone/>
            </a:pPr>
            <a:r>
              <a:rPr lang="en-US" sz="1100" dirty="0">
                <a:solidFill>
                  <a:srgbClr val="FFFFFF"/>
                </a:solidFill>
                <a:latin typeface="Calibri" pitchFamily="34" charset="0"/>
                <a:ea typeface="Calibri" pitchFamily="34" charset="-122"/>
                <a:cs typeface="Calibri" pitchFamily="34" charset="-120"/>
              </a:rPr>
              <a:t>   All occupants killed · Convair CV-580 disintegrated in flight</a:t>
            </a:r>
            <a:endParaRPr lang="en-US" sz="1600" dirty="0"/>
          </a:p>
        </p:txBody>
      </p:sp>
      <p:sp>
        <p:nvSpPr>
          <p:cNvPr id="21" name="Text 19"/>
          <p:cNvSpPr/>
          <p:nvPr/>
        </p:nvSpPr>
        <p:spPr>
          <a:xfrm>
            <a:off x="6446520" y="3063240"/>
            <a:ext cx="5212080" cy="228600"/>
          </a:xfrm>
          <a:prstGeom prst="rect">
            <a:avLst/>
          </a:prstGeom>
          <a:noFill/>
          <a:ln/>
        </p:spPr>
        <p:txBody>
          <a:bodyPr wrap="square" lIns="0" tIns="0" rIns="0" bIns="0" rtlCol="0" anchor="ctr"/>
          <a:lstStyle/>
          <a:p>
            <a:pPr indent="0" marL="0">
              <a:buNone/>
            </a:pPr>
            <a:r>
              <a:rPr lang="en-US" sz="1000" b="1" spc="400" kern="0" dirty="0">
                <a:solidFill>
                  <a:srgbClr val="1E2761"/>
                </a:solidFill>
                <a:latin typeface="Calibri" pitchFamily="34" charset="0"/>
                <a:ea typeface="Calibri" pitchFamily="34" charset="-122"/>
                <a:cs typeface="Calibri" pitchFamily="34" charset="-120"/>
              </a:rPr>
              <a:t>WHAT HAPPENED</a:t>
            </a:r>
            <a:endParaRPr lang="en-US" sz="1000" dirty="0"/>
          </a:p>
        </p:txBody>
      </p:sp>
      <p:sp>
        <p:nvSpPr>
          <p:cNvPr id="22" name="Text 20"/>
          <p:cNvSpPr/>
          <p:nvPr/>
        </p:nvSpPr>
        <p:spPr>
          <a:xfrm>
            <a:off x="6446520" y="3291840"/>
            <a:ext cx="5212080" cy="1097280"/>
          </a:xfrm>
          <a:prstGeom prst="rect">
            <a:avLst/>
          </a:prstGeom>
          <a:noFill/>
          <a:ln/>
        </p:spPr>
        <p:txBody>
          <a:bodyPr wrap="square" lIns="0" tIns="0" rIns="0" bIns="0" rtlCol="0" anchor="t"/>
          <a:lstStyle/>
          <a:p>
            <a:pPr indent="0" marL="0">
              <a:buNone/>
            </a:pPr>
            <a:r>
              <a:rPr lang="en-US" sz="1100" dirty="0">
                <a:solidFill>
                  <a:srgbClr val="1A1A1A"/>
                </a:solidFill>
                <a:latin typeface="Calibri" pitchFamily="34" charset="0"/>
                <a:ea typeface="Calibri" pitchFamily="34" charset="-122"/>
                <a:cs typeface="Calibri" pitchFamily="34" charset="-120"/>
              </a:rPr>
              <a:t>Three counterfeit bolts securing the vertical stabilizer to the fuselage had 60% of intended strength. Combined with a broken APU mount, resonant vibration caused the tail to detach mid-flight.</a:t>
            </a:r>
            <a:endParaRPr lang="en-US" sz="1100" dirty="0"/>
          </a:p>
        </p:txBody>
      </p:sp>
      <p:sp>
        <p:nvSpPr>
          <p:cNvPr id="23" name="Text 21"/>
          <p:cNvSpPr/>
          <p:nvPr/>
        </p:nvSpPr>
        <p:spPr>
          <a:xfrm>
            <a:off x="6446520" y="4434840"/>
            <a:ext cx="5212080" cy="228600"/>
          </a:xfrm>
          <a:prstGeom prst="rect">
            <a:avLst/>
          </a:prstGeom>
          <a:noFill/>
          <a:ln/>
        </p:spPr>
        <p:txBody>
          <a:bodyPr wrap="square" lIns="0" tIns="0" rIns="0" bIns="0" rtlCol="0" anchor="ctr"/>
          <a:lstStyle/>
          <a:p>
            <a:pPr indent="0" marL="0">
              <a:buNone/>
            </a:pPr>
            <a:r>
              <a:rPr lang="en-US" sz="1000" b="1" spc="400" kern="0" dirty="0">
                <a:solidFill>
                  <a:srgbClr val="C00000"/>
                </a:solidFill>
                <a:latin typeface="Calibri" pitchFamily="34" charset="0"/>
                <a:ea typeface="Calibri" pitchFamily="34" charset="-122"/>
                <a:cs typeface="Calibri" pitchFamily="34" charset="-120"/>
              </a:rPr>
              <a:t>THE CM FAILURE</a:t>
            </a:r>
            <a:endParaRPr lang="en-US" sz="1000" dirty="0"/>
          </a:p>
        </p:txBody>
      </p:sp>
      <p:sp>
        <p:nvSpPr>
          <p:cNvPr id="24" name="Text 22"/>
          <p:cNvSpPr/>
          <p:nvPr/>
        </p:nvSpPr>
        <p:spPr>
          <a:xfrm>
            <a:off x="6446520" y="4663440"/>
            <a:ext cx="5212080" cy="1463040"/>
          </a:xfrm>
          <a:prstGeom prst="rect">
            <a:avLst/>
          </a:prstGeom>
          <a:noFill/>
          <a:ln/>
        </p:spPr>
        <p:txBody>
          <a:bodyPr wrap="square" lIns="0" tIns="0" rIns="0" bIns="0" rtlCol="0" anchor="t"/>
          <a:lstStyle/>
          <a:p>
            <a:pPr indent="0" marL="0">
              <a:buNone/>
            </a:pPr>
            <a:r>
              <a:rPr lang="en-US" sz="1100" dirty="0">
                <a:solidFill>
                  <a:srgbClr val="1A1A1A"/>
                </a:solidFill>
                <a:latin typeface="Calibri" pitchFamily="34" charset="0"/>
                <a:ea typeface="Calibri" pitchFamily="34" charset="-122"/>
                <a:cs typeface="Calibri" pitchFamily="34" charset="-120"/>
              </a:rPr>
              <a:t>Counterfeit parts entered the supply chain via fraudulent certification documents and were installed in safety-critical applications. This is a Configuration Status Accounting failure (§3.4.1(3)j sub-supplier traceability) and Configuration Verification failure (§3.5.3 PCA parts examination). The accident led directly to the FAA's Suspected Unapproved Parts (SUP) program in 1995.</a:t>
            </a:r>
            <a:endParaRPr lang="en-US" sz="1100" dirty="0"/>
          </a:p>
        </p:txBody>
      </p:sp>
      <p:sp>
        <p:nvSpPr>
          <p:cNvPr id="25" name="Text 23"/>
          <p:cNvSpPr/>
          <p:nvPr/>
        </p:nvSpPr>
        <p:spPr>
          <a:xfrm>
            <a:off x="6446520" y="5989320"/>
            <a:ext cx="5212080" cy="228600"/>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Source: Norwegian AIBN Report HAV 02/93</a:t>
            </a:r>
            <a:endParaRPr lang="en-US" sz="800" dirty="0"/>
          </a:p>
        </p:txBody>
      </p:sp>
      <p:sp>
        <p:nvSpPr>
          <p:cNvPr id="26" name="Text 24"/>
          <p:cNvSpPr/>
          <p:nvPr/>
        </p:nvSpPr>
        <p:spPr>
          <a:xfrm>
            <a:off x="457200" y="6537960"/>
            <a:ext cx="822960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CM Workforce Competency Analysis  |  EIA-649-1</a:t>
            </a:r>
            <a:endParaRPr lang="en-US" sz="900" dirty="0"/>
          </a:p>
        </p:txBody>
      </p:sp>
      <p:sp>
        <p:nvSpPr>
          <p:cNvPr id="27" name="Text 25"/>
          <p:cNvSpPr/>
          <p:nvPr/>
        </p:nvSpPr>
        <p:spPr>
          <a:xfrm>
            <a:off x="10972800" y="6537960"/>
            <a:ext cx="7315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200" b="1" spc="800" kern="0" dirty="0">
                <a:solidFill>
                  <a:srgbClr val="C00000"/>
                </a:solidFill>
                <a:latin typeface="Calibri" pitchFamily="34" charset="0"/>
                <a:ea typeface="Calibri" pitchFamily="34" charset="-122"/>
                <a:cs typeface="Calibri" pitchFamily="34" charset="-120"/>
              </a:rPr>
              <a:t>WHEN CM FAILS — PART 2</a:t>
            </a:r>
            <a:endParaRPr lang="en-US" sz="1200" dirty="0"/>
          </a:p>
        </p:txBody>
      </p:sp>
      <p:sp>
        <p:nvSpPr>
          <p:cNvPr id="3" name="Text 1"/>
          <p:cNvSpPr/>
          <p:nvPr/>
        </p:nvSpPr>
        <p:spPr>
          <a:xfrm>
            <a:off x="548640" y="777240"/>
            <a:ext cx="10972800" cy="640080"/>
          </a:xfrm>
          <a:prstGeom prst="rect">
            <a:avLst/>
          </a:prstGeom>
          <a:noFill/>
          <a:ln/>
        </p:spPr>
        <p:txBody>
          <a:bodyPr wrap="square" lIns="0" tIns="0" rIns="0" bIns="0"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More Aircraft Lost to Change Management Failures</a:t>
            </a:r>
            <a:endParaRPr lang="en-US" sz="3000" dirty="0"/>
          </a:p>
        </p:txBody>
      </p:sp>
      <p:sp>
        <p:nvSpPr>
          <p:cNvPr id="4" name="Shape 2"/>
          <p:cNvSpPr/>
          <p:nvPr/>
        </p:nvSpPr>
        <p:spPr>
          <a:xfrm>
            <a:off x="502920" y="1691640"/>
            <a:ext cx="3721608" cy="4572000"/>
          </a:xfrm>
          <a:prstGeom prst="rect">
            <a:avLst/>
          </a:prstGeom>
          <a:solidFill>
            <a:srgbClr val="F5F7FA"/>
          </a:solidFill>
          <a:ln w="12700">
            <a:solidFill>
              <a:srgbClr val="E2E8F0"/>
            </a:solidFill>
            <a:prstDash val="solid"/>
          </a:ln>
        </p:spPr>
      </p:sp>
      <p:sp>
        <p:nvSpPr>
          <p:cNvPr id="5" name="Shape 3"/>
          <p:cNvSpPr/>
          <p:nvPr/>
        </p:nvSpPr>
        <p:spPr>
          <a:xfrm>
            <a:off x="502920" y="1691640"/>
            <a:ext cx="3721608" cy="365760"/>
          </a:xfrm>
          <a:prstGeom prst="rect">
            <a:avLst/>
          </a:prstGeom>
          <a:solidFill>
            <a:srgbClr val="1E2761"/>
          </a:solidFill>
          <a:ln w="12700">
            <a:solidFill>
              <a:srgbClr val="1E2761"/>
            </a:solidFill>
            <a:prstDash val="solid"/>
          </a:ln>
        </p:spPr>
      </p:sp>
      <p:sp>
        <p:nvSpPr>
          <p:cNvPr id="6" name="Text 4"/>
          <p:cNvSpPr/>
          <p:nvPr/>
        </p:nvSpPr>
        <p:spPr>
          <a:xfrm>
            <a:off x="640080" y="1719072"/>
            <a:ext cx="3447288" cy="320040"/>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ALASKA AIRLINES 261</a:t>
            </a:r>
            <a:endParaRPr lang="en-US" sz="1200" dirty="0"/>
          </a:p>
        </p:txBody>
      </p:sp>
      <p:sp>
        <p:nvSpPr>
          <p:cNvPr id="7" name="Text 5"/>
          <p:cNvSpPr/>
          <p:nvPr/>
        </p:nvSpPr>
        <p:spPr>
          <a:xfrm>
            <a:off x="640080" y="2103120"/>
            <a:ext cx="3447288"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Pacific Ocean · 31 Jan 2000</a:t>
            </a:r>
            <a:endParaRPr lang="en-US" sz="900" dirty="0"/>
          </a:p>
        </p:txBody>
      </p:sp>
      <p:sp>
        <p:nvSpPr>
          <p:cNvPr id="8" name="Shape 6"/>
          <p:cNvSpPr/>
          <p:nvPr/>
        </p:nvSpPr>
        <p:spPr>
          <a:xfrm>
            <a:off x="640080" y="2350008"/>
            <a:ext cx="3447288" cy="365760"/>
          </a:xfrm>
          <a:prstGeom prst="rect">
            <a:avLst/>
          </a:prstGeom>
          <a:solidFill>
            <a:srgbClr val="C00000"/>
          </a:solidFill>
          <a:ln w="12700">
            <a:solidFill>
              <a:srgbClr val="C00000"/>
            </a:solidFill>
            <a:prstDash val="solid"/>
          </a:ln>
        </p:spPr>
      </p:sp>
      <p:sp>
        <p:nvSpPr>
          <p:cNvPr id="9" name="Text 7"/>
          <p:cNvSpPr/>
          <p:nvPr/>
        </p:nvSpPr>
        <p:spPr>
          <a:xfrm>
            <a:off x="640080" y="2350008"/>
            <a:ext cx="344728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88 FATALITIES</a:t>
            </a:r>
            <a:endParaRPr lang="en-US" sz="1200" dirty="0"/>
          </a:p>
        </p:txBody>
      </p:sp>
      <p:sp>
        <p:nvSpPr>
          <p:cNvPr id="10" name="Text 8"/>
          <p:cNvSpPr/>
          <p:nvPr/>
        </p:nvSpPr>
        <p:spPr>
          <a:xfrm>
            <a:off x="640080" y="2834640"/>
            <a:ext cx="3447288" cy="201168"/>
          </a:xfrm>
          <a:prstGeom prst="rect">
            <a:avLst/>
          </a:prstGeom>
          <a:noFill/>
          <a:ln/>
        </p:spPr>
        <p:txBody>
          <a:bodyPr wrap="square" lIns="0" tIns="0" rIns="0" bIns="0" rtlCol="0" anchor="ctr"/>
          <a:lstStyle/>
          <a:p>
            <a:pPr indent="0" marL="0">
              <a:buNone/>
            </a:pPr>
            <a:r>
              <a:rPr lang="en-US" sz="900" b="1" spc="300" kern="0" dirty="0">
                <a:solidFill>
                  <a:srgbClr val="1E2761"/>
                </a:solidFill>
                <a:latin typeface="Calibri" pitchFamily="34" charset="0"/>
                <a:ea typeface="Calibri" pitchFamily="34" charset="-122"/>
                <a:cs typeface="Calibri" pitchFamily="34" charset="-120"/>
              </a:rPr>
              <a:t>WHAT HAPPENED</a:t>
            </a:r>
            <a:endParaRPr lang="en-US" sz="900" dirty="0"/>
          </a:p>
        </p:txBody>
      </p:sp>
      <p:sp>
        <p:nvSpPr>
          <p:cNvPr id="11" name="Text 9"/>
          <p:cNvSpPr/>
          <p:nvPr/>
        </p:nvSpPr>
        <p:spPr>
          <a:xfrm>
            <a:off x="640080" y="3063240"/>
            <a:ext cx="3447288" cy="1280160"/>
          </a:xfrm>
          <a:prstGeom prst="rect">
            <a:avLst/>
          </a:prstGeom>
          <a:noFill/>
          <a:ln/>
        </p:spPr>
        <p:txBody>
          <a:bodyPr wrap="square" lIns="0" tIns="0" rIns="0" bIns="0" rtlCol="0" anchor="t"/>
          <a:lstStyle/>
          <a:p>
            <a:pPr indent="0" marL="0">
              <a:buNone/>
            </a:pPr>
            <a:r>
              <a:rPr lang="en-US" sz="1000" dirty="0">
                <a:solidFill>
                  <a:srgbClr val="1A1A1A"/>
                </a:solidFill>
                <a:latin typeface="Calibri" pitchFamily="34" charset="0"/>
                <a:ea typeface="Calibri" pitchFamily="34" charset="-122"/>
                <a:cs typeface="Calibri" pitchFamily="34" charset="-120"/>
              </a:rPr>
              <a:t>MD-83 lost pitch control after horizontal stabilizer jackscrew acme nut threads wore through from inadequate lubrication.</a:t>
            </a:r>
            <a:endParaRPr lang="en-US" sz="1000" dirty="0"/>
          </a:p>
        </p:txBody>
      </p:sp>
      <p:sp>
        <p:nvSpPr>
          <p:cNvPr id="12" name="Text 10"/>
          <p:cNvSpPr/>
          <p:nvPr/>
        </p:nvSpPr>
        <p:spPr>
          <a:xfrm>
            <a:off x="640080" y="4389120"/>
            <a:ext cx="3447288" cy="201168"/>
          </a:xfrm>
          <a:prstGeom prst="rect">
            <a:avLst/>
          </a:prstGeom>
          <a:noFill/>
          <a:ln/>
        </p:spPr>
        <p:txBody>
          <a:bodyPr wrap="square" lIns="0" tIns="0" rIns="0" bIns="0" rtlCol="0" anchor="ctr"/>
          <a:lstStyle/>
          <a:p>
            <a:pPr indent="0" marL="0">
              <a:buNone/>
            </a:pPr>
            <a:r>
              <a:rPr lang="en-US" sz="900" b="1" spc="300" kern="0" dirty="0">
                <a:solidFill>
                  <a:srgbClr val="C00000"/>
                </a:solidFill>
                <a:latin typeface="Calibri" pitchFamily="34" charset="0"/>
                <a:ea typeface="Calibri" pitchFamily="34" charset="-122"/>
                <a:cs typeface="Calibri" pitchFamily="34" charset="-120"/>
              </a:rPr>
              <a:t>THE CM FAILURE</a:t>
            </a:r>
            <a:endParaRPr lang="en-US" sz="900" dirty="0"/>
          </a:p>
        </p:txBody>
      </p:sp>
      <p:sp>
        <p:nvSpPr>
          <p:cNvPr id="13" name="Text 11"/>
          <p:cNvSpPr/>
          <p:nvPr/>
        </p:nvSpPr>
        <p:spPr>
          <a:xfrm>
            <a:off x="640080" y="4617720"/>
            <a:ext cx="3447288" cy="1325880"/>
          </a:xfrm>
          <a:prstGeom prst="rect">
            <a:avLst/>
          </a:prstGeom>
          <a:noFill/>
          <a:ln/>
        </p:spPr>
        <p:txBody>
          <a:bodyPr wrap="square" lIns="0" tIns="0" rIns="0" bIns="0" rtlCol="0" anchor="t"/>
          <a:lstStyle/>
          <a:p>
            <a:pPr indent="0" marL="0">
              <a:buNone/>
            </a:pPr>
            <a:r>
              <a:rPr lang="en-US" sz="1000" dirty="0">
                <a:solidFill>
                  <a:srgbClr val="1A1A1A"/>
                </a:solidFill>
                <a:latin typeface="Calibri" pitchFamily="34" charset="0"/>
                <a:ea typeface="Calibri" pitchFamily="34" charset="-122"/>
                <a:cs typeface="Calibri" pitchFamily="34" charset="-120"/>
              </a:rPr>
              <a:t>Alaska extended both the lubrication interval and the end-play check interval without adequate technical data. The NTSB found the interval extension 'should have been, but was not, supported by adequate technical data.' This is a §3.3 change processed without §3.3.1.4 technical evaluation.</a:t>
            </a:r>
            <a:endParaRPr lang="en-US" sz="1000" dirty="0"/>
          </a:p>
        </p:txBody>
      </p:sp>
      <p:sp>
        <p:nvSpPr>
          <p:cNvPr id="14" name="Text 12"/>
          <p:cNvSpPr/>
          <p:nvPr/>
        </p:nvSpPr>
        <p:spPr>
          <a:xfrm>
            <a:off x="640080" y="6016752"/>
            <a:ext cx="3447288" cy="201168"/>
          </a:xfrm>
          <a:prstGeom prst="rect">
            <a:avLst/>
          </a:prstGeom>
          <a:noFill/>
          <a:ln/>
        </p:spPr>
        <p:txBody>
          <a:bodyPr wrap="square" lIns="0" tIns="0" rIns="0" bIns="0" rtlCol="0" anchor="ctr"/>
          <a:lstStyle/>
          <a:p>
            <a:pPr indent="0" marL="0">
              <a:buNone/>
            </a:pPr>
            <a:r>
              <a:rPr lang="en-US" sz="700" i="1" dirty="0">
                <a:solidFill>
                  <a:srgbClr val="64748B"/>
                </a:solidFill>
                <a:latin typeface="Calibri" pitchFamily="34" charset="0"/>
                <a:ea typeface="Calibri" pitchFamily="34" charset="-122"/>
                <a:cs typeface="Calibri" pitchFamily="34" charset="-120"/>
              </a:rPr>
              <a:t>Source: NTSB AAR-02/01</a:t>
            </a:r>
            <a:endParaRPr lang="en-US" sz="700" dirty="0"/>
          </a:p>
        </p:txBody>
      </p:sp>
      <p:sp>
        <p:nvSpPr>
          <p:cNvPr id="15" name="Shape 13"/>
          <p:cNvSpPr/>
          <p:nvPr/>
        </p:nvSpPr>
        <p:spPr>
          <a:xfrm>
            <a:off x="4297680" y="1691640"/>
            <a:ext cx="3721608" cy="4572000"/>
          </a:xfrm>
          <a:prstGeom prst="rect">
            <a:avLst/>
          </a:prstGeom>
          <a:solidFill>
            <a:srgbClr val="F5F7FA"/>
          </a:solidFill>
          <a:ln w="12700">
            <a:solidFill>
              <a:srgbClr val="E2E8F0"/>
            </a:solidFill>
            <a:prstDash val="solid"/>
          </a:ln>
        </p:spPr>
      </p:sp>
      <p:sp>
        <p:nvSpPr>
          <p:cNvPr id="16" name="Shape 14"/>
          <p:cNvSpPr/>
          <p:nvPr/>
        </p:nvSpPr>
        <p:spPr>
          <a:xfrm>
            <a:off x="4297680" y="1691640"/>
            <a:ext cx="3721608" cy="365760"/>
          </a:xfrm>
          <a:prstGeom prst="rect">
            <a:avLst/>
          </a:prstGeom>
          <a:solidFill>
            <a:srgbClr val="1E2761"/>
          </a:solidFill>
          <a:ln w="12700">
            <a:solidFill>
              <a:srgbClr val="1E2761"/>
            </a:solidFill>
            <a:prstDash val="solid"/>
          </a:ln>
        </p:spPr>
      </p:sp>
      <p:sp>
        <p:nvSpPr>
          <p:cNvPr id="17" name="Text 15"/>
          <p:cNvSpPr/>
          <p:nvPr/>
        </p:nvSpPr>
        <p:spPr>
          <a:xfrm>
            <a:off x="4434840" y="1719072"/>
            <a:ext cx="3447288" cy="320040"/>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AMERICAN AIRLINES 191</a:t>
            </a:r>
            <a:endParaRPr lang="en-US" sz="1200" dirty="0"/>
          </a:p>
        </p:txBody>
      </p:sp>
      <p:sp>
        <p:nvSpPr>
          <p:cNvPr id="18" name="Text 16"/>
          <p:cNvSpPr/>
          <p:nvPr/>
        </p:nvSpPr>
        <p:spPr>
          <a:xfrm>
            <a:off x="4434840" y="2103120"/>
            <a:ext cx="3447288"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Chicago O'Hare · 25 May 1979</a:t>
            </a:r>
            <a:endParaRPr lang="en-US" sz="900" dirty="0"/>
          </a:p>
        </p:txBody>
      </p:sp>
      <p:sp>
        <p:nvSpPr>
          <p:cNvPr id="19" name="Shape 17"/>
          <p:cNvSpPr/>
          <p:nvPr/>
        </p:nvSpPr>
        <p:spPr>
          <a:xfrm>
            <a:off x="4434840" y="2350008"/>
            <a:ext cx="3447288" cy="365760"/>
          </a:xfrm>
          <a:prstGeom prst="rect">
            <a:avLst/>
          </a:prstGeom>
          <a:solidFill>
            <a:srgbClr val="C00000"/>
          </a:solidFill>
          <a:ln w="12700">
            <a:solidFill>
              <a:srgbClr val="C00000"/>
            </a:solidFill>
            <a:prstDash val="solid"/>
          </a:ln>
        </p:spPr>
      </p:sp>
      <p:sp>
        <p:nvSpPr>
          <p:cNvPr id="20" name="Text 18"/>
          <p:cNvSpPr/>
          <p:nvPr/>
        </p:nvSpPr>
        <p:spPr>
          <a:xfrm>
            <a:off x="4434840" y="2350008"/>
            <a:ext cx="344728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273 FATALITIES</a:t>
            </a:r>
            <a:endParaRPr lang="en-US" sz="1200" dirty="0"/>
          </a:p>
        </p:txBody>
      </p:sp>
      <p:sp>
        <p:nvSpPr>
          <p:cNvPr id="21" name="Text 19"/>
          <p:cNvSpPr/>
          <p:nvPr/>
        </p:nvSpPr>
        <p:spPr>
          <a:xfrm>
            <a:off x="4434840" y="2834640"/>
            <a:ext cx="3447288" cy="201168"/>
          </a:xfrm>
          <a:prstGeom prst="rect">
            <a:avLst/>
          </a:prstGeom>
          <a:noFill/>
          <a:ln/>
        </p:spPr>
        <p:txBody>
          <a:bodyPr wrap="square" lIns="0" tIns="0" rIns="0" bIns="0" rtlCol="0" anchor="ctr"/>
          <a:lstStyle/>
          <a:p>
            <a:pPr indent="0" marL="0">
              <a:buNone/>
            </a:pPr>
            <a:r>
              <a:rPr lang="en-US" sz="900" b="1" spc="300" kern="0" dirty="0">
                <a:solidFill>
                  <a:srgbClr val="1E2761"/>
                </a:solidFill>
                <a:latin typeface="Calibri" pitchFamily="34" charset="0"/>
                <a:ea typeface="Calibri" pitchFamily="34" charset="-122"/>
                <a:cs typeface="Calibri" pitchFamily="34" charset="-120"/>
              </a:rPr>
              <a:t>WHAT HAPPENED</a:t>
            </a:r>
            <a:endParaRPr lang="en-US" sz="900" dirty="0"/>
          </a:p>
        </p:txBody>
      </p:sp>
      <p:sp>
        <p:nvSpPr>
          <p:cNvPr id="22" name="Text 20"/>
          <p:cNvSpPr/>
          <p:nvPr/>
        </p:nvSpPr>
        <p:spPr>
          <a:xfrm>
            <a:off x="4434840" y="3063240"/>
            <a:ext cx="3447288" cy="1280160"/>
          </a:xfrm>
          <a:prstGeom prst="rect">
            <a:avLst/>
          </a:prstGeom>
          <a:noFill/>
          <a:ln/>
        </p:spPr>
        <p:txBody>
          <a:bodyPr wrap="square" lIns="0" tIns="0" rIns="0" bIns="0" rtlCol="0" anchor="t"/>
          <a:lstStyle/>
          <a:p>
            <a:pPr indent="0" marL="0">
              <a:buNone/>
            </a:pPr>
            <a:r>
              <a:rPr lang="en-US" sz="1000" dirty="0">
                <a:solidFill>
                  <a:srgbClr val="1A1A1A"/>
                </a:solidFill>
                <a:latin typeface="Calibri" pitchFamily="34" charset="0"/>
                <a:ea typeface="Calibri" pitchFamily="34" charset="-122"/>
                <a:cs typeface="Calibri" pitchFamily="34" charset="-120"/>
              </a:rPr>
              <a:t>DC-10 lost left engine and pylon on takeoff rotation due to crack induced 8 weeks earlier during a maintenance procedure that violated McDonnell Douglas service manuals.</a:t>
            </a:r>
            <a:endParaRPr lang="en-US" sz="1000" dirty="0"/>
          </a:p>
        </p:txBody>
      </p:sp>
      <p:sp>
        <p:nvSpPr>
          <p:cNvPr id="23" name="Text 21"/>
          <p:cNvSpPr/>
          <p:nvPr/>
        </p:nvSpPr>
        <p:spPr>
          <a:xfrm>
            <a:off x="4434840" y="4389120"/>
            <a:ext cx="3447288" cy="201168"/>
          </a:xfrm>
          <a:prstGeom prst="rect">
            <a:avLst/>
          </a:prstGeom>
          <a:noFill/>
          <a:ln/>
        </p:spPr>
        <p:txBody>
          <a:bodyPr wrap="square" lIns="0" tIns="0" rIns="0" bIns="0" rtlCol="0" anchor="ctr"/>
          <a:lstStyle/>
          <a:p>
            <a:pPr indent="0" marL="0">
              <a:buNone/>
            </a:pPr>
            <a:r>
              <a:rPr lang="en-US" sz="900" b="1" spc="300" kern="0" dirty="0">
                <a:solidFill>
                  <a:srgbClr val="C00000"/>
                </a:solidFill>
                <a:latin typeface="Calibri" pitchFamily="34" charset="0"/>
                <a:ea typeface="Calibri" pitchFamily="34" charset="-122"/>
                <a:cs typeface="Calibri" pitchFamily="34" charset="-120"/>
              </a:rPr>
              <a:t>THE CM FAILURE</a:t>
            </a:r>
            <a:endParaRPr lang="en-US" sz="900" dirty="0"/>
          </a:p>
        </p:txBody>
      </p:sp>
      <p:sp>
        <p:nvSpPr>
          <p:cNvPr id="24" name="Text 22"/>
          <p:cNvSpPr/>
          <p:nvPr/>
        </p:nvSpPr>
        <p:spPr>
          <a:xfrm>
            <a:off x="4434840" y="4617720"/>
            <a:ext cx="3447288" cy="1325880"/>
          </a:xfrm>
          <a:prstGeom prst="rect">
            <a:avLst/>
          </a:prstGeom>
          <a:noFill/>
          <a:ln/>
        </p:spPr>
        <p:txBody>
          <a:bodyPr wrap="square" lIns="0" tIns="0" rIns="0" bIns="0" rtlCol="0" anchor="t"/>
          <a:lstStyle/>
          <a:p>
            <a:pPr indent="0" marL="0">
              <a:buNone/>
            </a:pPr>
            <a:r>
              <a:rPr lang="en-US" sz="1000" dirty="0">
                <a:solidFill>
                  <a:srgbClr val="1A1A1A"/>
                </a:solidFill>
                <a:latin typeface="Calibri" pitchFamily="34" charset="0"/>
                <a:ea typeface="Calibri" pitchFamily="34" charset="-122"/>
                <a:cs typeface="Calibri" pitchFamily="34" charset="-120"/>
              </a:rPr>
              <a:t>American (and Continental independently) developed an unapproved forklift-based engine removal procedure without engineering review or manufacturer concurrence. A textbook Class I ECP that was never submitted. Earlier Continental damage was never reported across operators.</a:t>
            </a:r>
            <a:endParaRPr lang="en-US" sz="1000" dirty="0"/>
          </a:p>
        </p:txBody>
      </p:sp>
      <p:sp>
        <p:nvSpPr>
          <p:cNvPr id="25" name="Text 23"/>
          <p:cNvSpPr/>
          <p:nvPr/>
        </p:nvSpPr>
        <p:spPr>
          <a:xfrm>
            <a:off x="4434840" y="6016752"/>
            <a:ext cx="3447288" cy="201168"/>
          </a:xfrm>
          <a:prstGeom prst="rect">
            <a:avLst/>
          </a:prstGeom>
          <a:noFill/>
          <a:ln/>
        </p:spPr>
        <p:txBody>
          <a:bodyPr wrap="square" lIns="0" tIns="0" rIns="0" bIns="0" rtlCol="0" anchor="ctr"/>
          <a:lstStyle/>
          <a:p>
            <a:pPr indent="0" marL="0">
              <a:buNone/>
            </a:pPr>
            <a:r>
              <a:rPr lang="en-US" sz="700" i="1" dirty="0">
                <a:solidFill>
                  <a:srgbClr val="64748B"/>
                </a:solidFill>
                <a:latin typeface="Calibri" pitchFamily="34" charset="0"/>
                <a:ea typeface="Calibri" pitchFamily="34" charset="-122"/>
                <a:cs typeface="Calibri" pitchFamily="34" charset="-120"/>
              </a:rPr>
              <a:t>Source: NTSB AAR-79/17</a:t>
            </a:r>
            <a:endParaRPr lang="en-US" sz="700" dirty="0"/>
          </a:p>
        </p:txBody>
      </p:sp>
      <p:sp>
        <p:nvSpPr>
          <p:cNvPr id="26" name="Shape 24"/>
          <p:cNvSpPr/>
          <p:nvPr/>
        </p:nvSpPr>
        <p:spPr>
          <a:xfrm>
            <a:off x="8092440" y="1691640"/>
            <a:ext cx="3721608" cy="4572000"/>
          </a:xfrm>
          <a:prstGeom prst="rect">
            <a:avLst/>
          </a:prstGeom>
          <a:solidFill>
            <a:srgbClr val="F5F7FA"/>
          </a:solidFill>
          <a:ln w="12700">
            <a:solidFill>
              <a:srgbClr val="E2E8F0"/>
            </a:solidFill>
            <a:prstDash val="solid"/>
          </a:ln>
        </p:spPr>
      </p:sp>
      <p:sp>
        <p:nvSpPr>
          <p:cNvPr id="27" name="Shape 25"/>
          <p:cNvSpPr/>
          <p:nvPr/>
        </p:nvSpPr>
        <p:spPr>
          <a:xfrm>
            <a:off x="8092440" y="1691640"/>
            <a:ext cx="3721608" cy="365760"/>
          </a:xfrm>
          <a:prstGeom prst="rect">
            <a:avLst/>
          </a:prstGeom>
          <a:solidFill>
            <a:srgbClr val="1E2761"/>
          </a:solidFill>
          <a:ln w="12700">
            <a:solidFill>
              <a:srgbClr val="1E2761"/>
            </a:solidFill>
            <a:prstDash val="solid"/>
          </a:ln>
        </p:spPr>
      </p:sp>
      <p:sp>
        <p:nvSpPr>
          <p:cNvPr id="28" name="Text 26"/>
          <p:cNvSpPr/>
          <p:nvPr/>
        </p:nvSpPr>
        <p:spPr>
          <a:xfrm>
            <a:off x="8229600" y="1719072"/>
            <a:ext cx="3447288" cy="320040"/>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BOEING 737 MAX</a:t>
            </a:r>
            <a:endParaRPr lang="en-US" sz="1200" dirty="0"/>
          </a:p>
        </p:txBody>
      </p:sp>
      <p:sp>
        <p:nvSpPr>
          <p:cNvPr id="29" name="Text 27"/>
          <p:cNvSpPr/>
          <p:nvPr/>
        </p:nvSpPr>
        <p:spPr>
          <a:xfrm>
            <a:off x="8229600" y="2103120"/>
            <a:ext cx="3447288" cy="20116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Lion Air 610 (2018), Ethiopian 302 (2019)</a:t>
            </a:r>
            <a:endParaRPr lang="en-US" sz="900" dirty="0"/>
          </a:p>
        </p:txBody>
      </p:sp>
      <p:sp>
        <p:nvSpPr>
          <p:cNvPr id="30" name="Shape 28"/>
          <p:cNvSpPr/>
          <p:nvPr/>
        </p:nvSpPr>
        <p:spPr>
          <a:xfrm>
            <a:off x="8229600" y="2350008"/>
            <a:ext cx="3447288" cy="365760"/>
          </a:xfrm>
          <a:prstGeom prst="rect">
            <a:avLst/>
          </a:prstGeom>
          <a:solidFill>
            <a:srgbClr val="C00000"/>
          </a:solidFill>
          <a:ln w="12700">
            <a:solidFill>
              <a:srgbClr val="C00000"/>
            </a:solidFill>
            <a:prstDash val="solid"/>
          </a:ln>
        </p:spPr>
      </p:sp>
      <p:sp>
        <p:nvSpPr>
          <p:cNvPr id="31" name="Text 29"/>
          <p:cNvSpPr/>
          <p:nvPr/>
        </p:nvSpPr>
        <p:spPr>
          <a:xfrm>
            <a:off x="8229600" y="2350008"/>
            <a:ext cx="3447288"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346 FATALITIES · $20B+ IMPACT</a:t>
            </a:r>
            <a:endParaRPr lang="en-US" sz="1200" dirty="0"/>
          </a:p>
        </p:txBody>
      </p:sp>
      <p:sp>
        <p:nvSpPr>
          <p:cNvPr id="32" name="Text 30"/>
          <p:cNvSpPr/>
          <p:nvPr/>
        </p:nvSpPr>
        <p:spPr>
          <a:xfrm>
            <a:off x="8229600" y="2834640"/>
            <a:ext cx="3447288" cy="201168"/>
          </a:xfrm>
          <a:prstGeom prst="rect">
            <a:avLst/>
          </a:prstGeom>
          <a:noFill/>
          <a:ln/>
        </p:spPr>
        <p:txBody>
          <a:bodyPr wrap="square" lIns="0" tIns="0" rIns="0" bIns="0" rtlCol="0" anchor="ctr"/>
          <a:lstStyle/>
          <a:p>
            <a:pPr indent="0" marL="0">
              <a:buNone/>
            </a:pPr>
            <a:r>
              <a:rPr lang="en-US" sz="900" b="1" spc="300" kern="0" dirty="0">
                <a:solidFill>
                  <a:srgbClr val="1E2761"/>
                </a:solidFill>
                <a:latin typeface="Calibri" pitchFamily="34" charset="0"/>
                <a:ea typeface="Calibri" pitchFamily="34" charset="-122"/>
                <a:cs typeface="Calibri" pitchFamily="34" charset="-120"/>
              </a:rPr>
              <a:t>WHAT HAPPENED</a:t>
            </a:r>
            <a:endParaRPr lang="en-US" sz="900" dirty="0"/>
          </a:p>
        </p:txBody>
      </p:sp>
      <p:sp>
        <p:nvSpPr>
          <p:cNvPr id="33" name="Text 31"/>
          <p:cNvSpPr/>
          <p:nvPr/>
        </p:nvSpPr>
        <p:spPr>
          <a:xfrm>
            <a:off x="8229600" y="3063240"/>
            <a:ext cx="3447288" cy="1280160"/>
          </a:xfrm>
          <a:prstGeom prst="rect">
            <a:avLst/>
          </a:prstGeom>
          <a:noFill/>
          <a:ln/>
        </p:spPr>
        <p:txBody>
          <a:bodyPr wrap="square" lIns="0" tIns="0" rIns="0" bIns="0" rtlCol="0" anchor="t"/>
          <a:lstStyle/>
          <a:p>
            <a:pPr indent="0" marL="0">
              <a:buNone/>
            </a:pPr>
            <a:r>
              <a:rPr lang="en-US" sz="1000" dirty="0">
                <a:solidFill>
                  <a:srgbClr val="1A1A1A"/>
                </a:solidFill>
                <a:latin typeface="Calibri" pitchFamily="34" charset="0"/>
                <a:ea typeface="Calibri" pitchFamily="34" charset="-122"/>
                <a:cs typeface="Calibri" pitchFamily="34" charset="-120"/>
              </a:rPr>
              <a:t>MCAS automated flight control feature relied on a single AOA sensor. Faulty sensor data triggered repeated nose-down inputs that flight crews could not override.</a:t>
            </a:r>
            <a:endParaRPr lang="en-US" sz="1000" dirty="0"/>
          </a:p>
        </p:txBody>
      </p:sp>
      <p:sp>
        <p:nvSpPr>
          <p:cNvPr id="34" name="Text 32"/>
          <p:cNvSpPr/>
          <p:nvPr/>
        </p:nvSpPr>
        <p:spPr>
          <a:xfrm>
            <a:off x="8229600" y="4389120"/>
            <a:ext cx="3447288" cy="201168"/>
          </a:xfrm>
          <a:prstGeom prst="rect">
            <a:avLst/>
          </a:prstGeom>
          <a:noFill/>
          <a:ln/>
        </p:spPr>
        <p:txBody>
          <a:bodyPr wrap="square" lIns="0" tIns="0" rIns="0" bIns="0" rtlCol="0" anchor="ctr"/>
          <a:lstStyle/>
          <a:p>
            <a:pPr indent="0" marL="0">
              <a:buNone/>
            </a:pPr>
            <a:r>
              <a:rPr lang="en-US" sz="900" b="1" spc="300" kern="0" dirty="0">
                <a:solidFill>
                  <a:srgbClr val="C00000"/>
                </a:solidFill>
                <a:latin typeface="Calibri" pitchFamily="34" charset="0"/>
                <a:ea typeface="Calibri" pitchFamily="34" charset="-122"/>
                <a:cs typeface="Calibri" pitchFamily="34" charset="-120"/>
              </a:rPr>
              <a:t>THE CM FAILURE</a:t>
            </a:r>
            <a:endParaRPr lang="en-US" sz="900" dirty="0"/>
          </a:p>
        </p:txBody>
      </p:sp>
      <p:sp>
        <p:nvSpPr>
          <p:cNvPr id="35" name="Text 33"/>
          <p:cNvSpPr/>
          <p:nvPr/>
        </p:nvSpPr>
        <p:spPr>
          <a:xfrm>
            <a:off x="8229600" y="4617720"/>
            <a:ext cx="3447288" cy="1325880"/>
          </a:xfrm>
          <a:prstGeom prst="rect">
            <a:avLst/>
          </a:prstGeom>
          <a:noFill/>
          <a:ln/>
        </p:spPr>
        <p:txBody>
          <a:bodyPr wrap="square" lIns="0" tIns="0" rIns="0" bIns="0" rtlCol="0" anchor="t"/>
          <a:lstStyle/>
          <a:p>
            <a:pPr indent="0" marL="0">
              <a:buNone/>
            </a:pPr>
            <a:r>
              <a:rPr lang="en-US" sz="1000" dirty="0">
                <a:solidFill>
                  <a:srgbClr val="1A1A1A"/>
                </a:solidFill>
                <a:latin typeface="Calibri" pitchFamily="34" charset="0"/>
                <a:ea typeface="Calibri" pitchFamily="34" charset="-122"/>
                <a:cs typeface="Calibri" pitchFamily="34" charset="-120"/>
              </a:rPr>
              <a:t>JATR found Boeing failed to update safety documentation as MCAS evolved. Pilot manuals omitted MCAS entirely. AOA disagree alert was unintentionally tied to optional configuration. §3.2.2.3 (documentation maintenance) and §3.5.2 FCA failures.</a:t>
            </a:r>
            <a:endParaRPr lang="en-US" sz="1000" dirty="0"/>
          </a:p>
        </p:txBody>
      </p:sp>
      <p:sp>
        <p:nvSpPr>
          <p:cNvPr id="36" name="Text 34"/>
          <p:cNvSpPr/>
          <p:nvPr/>
        </p:nvSpPr>
        <p:spPr>
          <a:xfrm>
            <a:off x="8229600" y="6016752"/>
            <a:ext cx="3447288" cy="201168"/>
          </a:xfrm>
          <a:prstGeom prst="rect">
            <a:avLst/>
          </a:prstGeom>
          <a:noFill/>
          <a:ln/>
        </p:spPr>
        <p:txBody>
          <a:bodyPr wrap="square" lIns="0" tIns="0" rIns="0" bIns="0" rtlCol="0" anchor="ctr"/>
          <a:lstStyle/>
          <a:p>
            <a:pPr indent="0" marL="0">
              <a:buNone/>
            </a:pPr>
            <a:r>
              <a:rPr lang="en-US" sz="700" i="1" dirty="0">
                <a:solidFill>
                  <a:srgbClr val="64748B"/>
                </a:solidFill>
                <a:latin typeface="Calibri" pitchFamily="34" charset="0"/>
                <a:ea typeface="Calibri" pitchFamily="34" charset="-122"/>
                <a:cs typeface="Calibri" pitchFamily="34" charset="-120"/>
              </a:rPr>
              <a:t>Source: JATR Final Report, Oct 2019</a:t>
            </a:r>
            <a:endParaRPr lang="en-US" sz="700" dirty="0"/>
          </a:p>
        </p:txBody>
      </p:sp>
      <p:sp>
        <p:nvSpPr>
          <p:cNvPr id="37" name="Text 35"/>
          <p:cNvSpPr/>
          <p:nvPr/>
        </p:nvSpPr>
        <p:spPr>
          <a:xfrm>
            <a:off x="457200" y="6537960"/>
            <a:ext cx="822960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CM Workforce Competency Analysis  |  EIA-649-1</a:t>
            </a:r>
            <a:endParaRPr lang="en-US" sz="900" dirty="0"/>
          </a:p>
        </p:txBody>
      </p:sp>
      <p:sp>
        <p:nvSpPr>
          <p:cNvPr id="38" name="Text 36"/>
          <p:cNvSpPr/>
          <p:nvPr/>
        </p:nvSpPr>
        <p:spPr>
          <a:xfrm>
            <a:off x="10972800" y="6537960"/>
            <a:ext cx="7315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972800" cy="320040"/>
          </a:xfrm>
          <a:prstGeom prst="rect">
            <a:avLst/>
          </a:prstGeom>
          <a:noFill/>
          <a:ln/>
        </p:spPr>
        <p:txBody>
          <a:bodyPr wrap="square" lIns="0" tIns="0" rIns="0" bIns="0" rtlCol="0" anchor="ctr"/>
          <a:lstStyle/>
          <a:p>
            <a:pPr indent="0" marL="0">
              <a:buNone/>
            </a:pPr>
            <a:r>
              <a:rPr lang="en-US" sz="1200" b="1" spc="800" kern="0" dirty="0">
                <a:solidFill>
                  <a:srgbClr val="C00000"/>
                </a:solidFill>
                <a:latin typeface="Calibri" pitchFamily="34" charset="0"/>
                <a:ea typeface="Calibri" pitchFamily="34" charset="-122"/>
                <a:cs typeface="Calibri" pitchFamily="34" charset="-120"/>
              </a:rPr>
              <a:t>RISK &amp; PATH FORWARD</a:t>
            </a:r>
            <a:endParaRPr lang="en-US" sz="1200" dirty="0"/>
          </a:p>
        </p:txBody>
      </p:sp>
      <p:sp>
        <p:nvSpPr>
          <p:cNvPr id="3" name="Text 1"/>
          <p:cNvSpPr/>
          <p:nvPr/>
        </p:nvSpPr>
        <p:spPr>
          <a:xfrm>
            <a:off x="548640" y="777240"/>
            <a:ext cx="10972800" cy="640080"/>
          </a:xfrm>
          <a:prstGeom prst="rect">
            <a:avLst/>
          </a:prstGeom>
          <a:noFill/>
          <a:ln/>
        </p:spPr>
        <p:txBody>
          <a:bodyPr wrap="square" lIns="0" tIns="0" rIns="0" bIns="0"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Status-Quo Risks and a 12-Month Implementation Plan</a:t>
            </a:r>
            <a:endParaRPr lang="en-US" sz="2800" dirty="0"/>
          </a:p>
        </p:txBody>
      </p:sp>
      <p:sp>
        <p:nvSpPr>
          <p:cNvPr id="4" name="Text 2"/>
          <p:cNvSpPr/>
          <p:nvPr/>
        </p:nvSpPr>
        <p:spPr>
          <a:xfrm>
            <a:off x="548640" y="1600200"/>
            <a:ext cx="5486400" cy="274320"/>
          </a:xfrm>
          <a:prstGeom prst="rect">
            <a:avLst/>
          </a:prstGeom>
          <a:noFill/>
          <a:ln/>
        </p:spPr>
        <p:txBody>
          <a:bodyPr wrap="square" lIns="0" tIns="0" rIns="0" bIns="0" rtlCol="0" anchor="ctr"/>
          <a:lstStyle/>
          <a:p>
            <a:pPr indent="0" marL="0">
              <a:buNone/>
            </a:pPr>
            <a:r>
              <a:rPr lang="en-US" sz="1200" b="1" spc="400" kern="0" dirty="0">
                <a:solidFill>
                  <a:srgbClr val="C00000"/>
                </a:solidFill>
                <a:latin typeface="Calibri" pitchFamily="34" charset="0"/>
                <a:ea typeface="Calibri" pitchFamily="34" charset="-122"/>
                <a:cs typeface="Calibri" pitchFamily="34" charset="-120"/>
              </a:rPr>
              <a:t>TOP STATUS-QUO RISKS</a:t>
            </a:r>
            <a:endParaRPr lang="en-US" sz="1200" dirty="0"/>
          </a:p>
        </p:txBody>
      </p:sp>
      <p:sp>
        <p:nvSpPr>
          <p:cNvPr id="5" name="Shape 3"/>
          <p:cNvSpPr/>
          <p:nvPr/>
        </p:nvSpPr>
        <p:spPr>
          <a:xfrm>
            <a:off x="548640" y="1965960"/>
            <a:ext cx="594360" cy="411480"/>
          </a:xfrm>
          <a:prstGeom prst="rect">
            <a:avLst/>
          </a:prstGeom>
          <a:solidFill>
            <a:srgbClr val="1E2761"/>
          </a:solidFill>
          <a:ln w="12700">
            <a:solidFill>
              <a:srgbClr val="1E2761"/>
            </a:solidFill>
            <a:prstDash val="solid"/>
          </a:ln>
        </p:spPr>
      </p:sp>
      <p:sp>
        <p:nvSpPr>
          <p:cNvPr id="6" name="Text 4"/>
          <p:cNvSpPr/>
          <p:nvPr/>
        </p:nvSpPr>
        <p:spPr>
          <a:xfrm>
            <a:off x="548640" y="1965960"/>
            <a:ext cx="594360" cy="4114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R-01</a:t>
            </a:r>
            <a:endParaRPr lang="en-US" sz="1000" dirty="0"/>
          </a:p>
        </p:txBody>
      </p:sp>
      <p:sp>
        <p:nvSpPr>
          <p:cNvPr id="7" name="Text 5"/>
          <p:cNvSpPr/>
          <p:nvPr/>
        </p:nvSpPr>
        <p:spPr>
          <a:xfrm>
            <a:off x="1234440" y="1965960"/>
            <a:ext cx="4023360" cy="411480"/>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Incorrect CI selection: safety-critical items not designated for separate control</a:t>
            </a:r>
            <a:endParaRPr lang="en-US" sz="1000" dirty="0"/>
          </a:p>
        </p:txBody>
      </p:sp>
      <p:sp>
        <p:nvSpPr>
          <p:cNvPr id="8" name="Shape 6"/>
          <p:cNvSpPr/>
          <p:nvPr/>
        </p:nvSpPr>
        <p:spPr>
          <a:xfrm>
            <a:off x="5349240" y="2011680"/>
            <a:ext cx="594360" cy="320040"/>
          </a:xfrm>
          <a:prstGeom prst="rect">
            <a:avLst/>
          </a:prstGeom>
          <a:solidFill>
            <a:srgbClr val="C00000"/>
          </a:solidFill>
          <a:ln w="12700">
            <a:solidFill>
              <a:srgbClr val="C00000"/>
            </a:solidFill>
            <a:prstDash val="solid"/>
          </a:ln>
        </p:spPr>
      </p:sp>
      <p:sp>
        <p:nvSpPr>
          <p:cNvPr id="9" name="Text 7"/>
          <p:cNvSpPr/>
          <p:nvPr/>
        </p:nvSpPr>
        <p:spPr>
          <a:xfrm>
            <a:off x="5349240" y="2011680"/>
            <a:ext cx="59436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10" name="Shape 8"/>
          <p:cNvSpPr/>
          <p:nvPr/>
        </p:nvSpPr>
        <p:spPr>
          <a:xfrm>
            <a:off x="548640" y="2468880"/>
            <a:ext cx="594360" cy="411480"/>
          </a:xfrm>
          <a:prstGeom prst="rect">
            <a:avLst/>
          </a:prstGeom>
          <a:solidFill>
            <a:srgbClr val="1E2761"/>
          </a:solidFill>
          <a:ln w="12700">
            <a:solidFill>
              <a:srgbClr val="1E2761"/>
            </a:solidFill>
            <a:prstDash val="solid"/>
          </a:ln>
        </p:spPr>
      </p:sp>
      <p:sp>
        <p:nvSpPr>
          <p:cNvPr id="11" name="Text 9"/>
          <p:cNvSpPr/>
          <p:nvPr/>
        </p:nvSpPr>
        <p:spPr>
          <a:xfrm>
            <a:off x="548640" y="2468880"/>
            <a:ext cx="594360" cy="4114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R-02</a:t>
            </a:r>
            <a:endParaRPr lang="en-US" sz="1000" dirty="0"/>
          </a:p>
        </p:txBody>
      </p:sp>
      <p:sp>
        <p:nvSpPr>
          <p:cNvPr id="12" name="Text 10"/>
          <p:cNvSpPr/>
          <p:nvPr/>
        </p:nvSpPr>
        <p:spPr>
          <a:xfrm>
            <a:off x="1234440" y="2468880"/>
            <a:ext cx="4023360" cy="411480"/>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Class I change misclassified as Class II to avoid Acquirer review</a:t>
            </a:r>
            <a:endParaRPr lang="en-US" sz="1000" dirty="0"/>
          </a:p>
        </p:txBody>
      </p:sp>
      <p:sp>
        <p:nvSpPr>
          <p:cNvPr id="13" name="Shape 11"/>
          <p:cNvSpPr/>
          <p:nvPr/>
        </p:nvSpPr>
        <p:spPr>
          <a:xfrm>
            <a:off x="5349240" y="2514600"/>
            <a:ext cx="594360" cy="320040"/>
          </a:xfrm>
          <a:prstGeom prst="rect">
            <a:avLst/>
          </a:prstGeom>
          <a:solidFill>
            <a:srgbClr val="C00000"/>
          </a:solidFill>
          <a:ln w="12700">
            <a:solidFill>
              <a:srgbClr val="C00000"/>
            </a:solidFill>
            <a:prstDash val="solid"/>
          </a:ln>
        </p:spPr>
      </p:sp>
      <p:sp>
        <p:nvSpPr>
          <p:cNvPr id="14" name="Text 12"/>
          <p:cNvSpPr/>
          <p:nvPr/>
        </p:nvSpPr>
        <p:spPr>
          <a:xfrm>
            <a:off x="5349240" y="2514600"/>
            <a:ext cx="59436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15" name="Shape 13"/>
          <p:cNvSpPr/>
          <p:nvPr/>
        </p:nvSpPr>
        <p:spPr>
          <a:xfrm>
            <a:off x="548640" y="2971800"/>
            <a:ext cx="594360" cy="411480"/>
          </a:xfrm>
          <a:prstGeom prst="rect">
            <a:avLst/>
          </a:prstGeom>
          <a:solidFill>
            <a:srgbClr val="1E2761"/>
          </a:solidFill>
          <a:ln w="12700">
            <a:solidFill>
              <a:srgbClr val="1E2761"/>
            </a:solidFill>
            <a:prstDash val="solid"/>
          </a:ln>
        </p:spPr>
      </p:sp>
      <p:sp>
        <p:nvSpPr>
          <p:cNvPr id="16" name="Text 14"/>
          <p:cNvSpPr/>
          <p:nvPr/>
        </p:nvSpPr>
        <p:spPr>
          <a:xfrm>
            <a:off x="548640" y="2971800"/>
            <a:ext cx="594360" cy="4114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R-03</a:t>
            </a:r>
            <a:endParaRPr lang="en-US" sz="1000" dirty="0"/>
          </a:p>
        </p:txBody>
      </p:sp>
      <p:sp>
        <p:nvSpPr>
          <p:cNvPr id="17" name="Text 15"/>
          <p:cNvSpPr/>
          <p:nvPr/>
        </p:nvSpPr>
        <p:spPr>
          <a:xfrm>
            <a:off x="1234440" y="2971800"/>
            <a:ext cx="4023360" cy="411480"/>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FCA conducted without ability to verify against FCD/ACD</a:t>
            </a:r>
            <a:endParaRPr lang="en-US" sz="1000" dirty="0"/>
          </a:p>
        </p:txBody>
      </p:sp>
      <p:sp>
        <p:nvSpPr>
          <p:cNvPr id="18" name="Shape 16"/>
          <p:cNvSpPr/>
          <p:nvPr/>
        </p:nvSpPr>
        <p:spPr>
          <a:xfrm>
            <a:off x="5349240" y="3017520"/>
            <a:ext cx="594360" cy="320040"/>
          </a:xfrm>
          <a:prstGeom prst="rect">
            <a:avLst/>
          </a:prstGeom>
          <a:solidFill>
            <a:srgbClr val="C00000"/>
          </a:solidFill>
          <a:ln w="12700">
            <a:solidFill>
              <a:srgbClr val="C00000"/>
            </a:solidFill>
            <a:prstDash val="solid"/>
          </a:ln>
        </p:spPr>
      </p:sp>
      <p:sp>
        <p:nvSpPr>
          <p:cNvPr id="19" name="Text 17"/>
          <p:cNvSpPr/>
          <p:nvPr/>
        </p:nvSpPr>
        <p:spPr>
          <a:xfrm>
            <a:off x="5349240" y="3017520"/>
            <a:ext cx="59436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20" name="Shape 18"/>
          <p:cNvSpPr/>
          <p:nvPr/>
        </p:nvSpPr>
        <p:spPr>
          <a:xfrm>
            <a:off x="548640" y="3474720"/>
            <a:ext cx="594360" cy="411480"/>
          </a:xfrm>
          <a:prstGeom prst="rect">
            <a:avLst/>
          </a:prstGeom>
          <a:solidFill>
            <a:srgbClr val="1E2761"/>
          </a:solidFill>
          <a:ln w="12700">
            <a:solidFill>
              <a:srgbClr val="1E2761"/>
            </a:solidFill>
            <a:prstDash val="solid"/>
          </a:ln>
        </p:spPr>
      </p:sp>
      <p:sp>
        <p:nvSpPr>
          <p:cNvPr id="21" name="Text 19"/>
          <p:cNvSpPr/>
          <p:nvPr/>
        </p:nvSpPr>
        <p:spPr>
          <a:xfrm>
            <a:off x="548640" y="3474720"/>
            <a:ext cx="594360" cy="4114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R-04</a:t>
            </a:r>
            <a:endParaRPr lang="en-US" sz="1000" dirty="0"/>
          </a:p>
        </p:txBody>
      </p:sp>
      <p:sp>
        <p:nvSpPr>
          <p:cNvPr id="22" name="Text 20"/>
          <p:cNvSpPr/>
          <p:nvPr/>
        </p:nvSpPr>
        <p:spPr>
          <a:xfrm>
            <a:off x="1234440" y="3474720"/>
            <a:ext cx="4023360" cy="411480"/>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PCA conducted without engineering drawing literacy</a:t>
            </a:r>
            <a:endParaRPr lang="en-US" sz="1000" dirty="0"/>
          </a:p>
        </p:txBody>
      </p:sp>
      <p:sp>
        <p:nvSpPr>
          <p:cNvPr id="23" name="Shape 21"/>
          <p:cNvSpPr/>
          <p:nvPr/>
        </p:nvSpPr>
        <p:spPr>
          <a:xfrm>
            <a:off x="5349240" y="3520440"/>
            <a:ext cx="594360" cy="320040"/>
          </a:xfrm>
          <a:prstGeom prst="rect">
            <a:avLst/>
          </a:prstGeom>
          <a:solidFill>
            <a:srgbClr val="C00000"/>
          </a:solidFill>
          <a:ln w="12700">
            <a:solidFill>
              <a:srgbClr val="C00000"/>
            </a:solidFill>
            <a:prstDash val="solid"/>
          </a:ln>
        </p:spPr>
      </p:sp>
      <p:sp>
        <p:nvSpPr>
          <p:cNvPr id="24" name="Text 22"/>
          <p:cNvSpPr/>
          <p:nvPr/>
        </p:nvSpPr>
        <p:spPr>
          <a:xfrm>
            <a:off x="5349240" y="3520440"/>
            <a:ext cx="59436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25" name="Shape 23"/>
          <p:cNvSpPr/>
          <p:nvPr/>
        </p:nvSpPr>
        <p:spPr>
          <a:xfrm>
            <a:off x="548640" y="3977640"/>
            <a:ext cx="594360" cy="411480"/>
          </a:xfrm>
          <a:prstGeom prst="rect">
            <a:avLst/>
          </a:prstGeom>
          <a:solidFill>
            <a:srgbClr val="1E2761"/>
          </a:solidFill>
          <a:ln w="12700">
            <a:solidFill>
              <a:srgbClr val="1E2761"/>
            </a:solidFill>
            <a:prstDash val="solid"/>
          </a:ln>
        </p:spPr>
      </p:sp>
      <p:sp>
        <p:nvSpPr>
          <p:cNvPr id="26" name="Text 24"/>
          <p:cNvSpPr/>
          <p:nvPr/>
        </p:nvSpPr>
        <p:spPr>
          <a:xfrm>
            <a:off x="548640" y="3977640"/>
            <a:ext cx="594360" cy="4114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R-05</a:t>
            </a:r>
            <a:endParaRPr lang="en-US" sz="1000" dirty="0"/>
          </a:p>
        </p:txBody>
      </p:sp>
      <p:sp>
        <p:nvSpPr>
          <p:cNvPr id="27" name="Text 25"/>
          <p:cNvSpPr/>
          <p:nvPr/>
        </p:nvSpPr>
        <p:spPr>
          <a:xfrm>
            <a:off x="1234440" y="3977640"/>
            <a:ext cx="4023360" cy="411480"/>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CSA inaccuracy: as-built records do not reflect delivered config</a:t>
            </a:r>
            <a:endParaRPr lang="en-US" sz="1000" dirty="0"/>
          </a:p>
        </p:txBody>
      </p:sp>
      <p:sp>
        <p:nvSpPr>
          <p:cNvPr id="28" name="Shape 26"/>
          <p:cNvSpPr/>
          <p:nvPr/>
        </p:nvSpPr>
        <p:spPr>
          <a:xfrm>
            <a:off x="5349240" y="4023360"/>
            <a:ext cx="594360" cy="320040"/>
          </a:xfrm>
          <a:prstGeom prst="rect">
            <a:avLst/>
          </a:prstGeom>
          <a:solidFill>
            <a:srgbClr val="C00000"/>
          </a:solidFill>
          <a:ln w="12700">
            <a:solidFill>
              <a:srgbClr val="C00000"/>
            </a:solidFill>
            <a:prstDash val="solid"/>
          </a:ln>
        </p:spPr>
      </p:sp>
      <p:sp>
        <p:nvSpPr>
          <p:cNvPr id="29" name="Text 27"/>
          <p:cNvSpPr/>
          <p:nvPr/>
        </p:nvSpPr>
        <p:spPr>
          <a:xfrm>
            <a:off x="5349240" y="4023360"/>
            <a:ext cx="59436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HIGH</a:t>
            </a:r>
            <a:endParaRPr lang="en-US" sz="900" dirty="0"/>
          </a:p>
        </p:txBody>
      </p:sp>
      <p:sp>
        <p:nvSpPr>
          <p:cNvPr id="30" name="Shape 28"/>
          <p:cNvSpPr/>
          <p:nvPr/>
        </p:nvSpPr>
        <p:spPr>
          <a:xfrm>
            <a:off x="548640" y="4480560"/>
            <a:ext cx="594360" cy="411480"/>
          </a:xfrm>
          <a:prstGeom prst="rect">
            <a:avLst/>
          </a:prstGeom>
          <a:solidFill>
            <a:srgbClr val="1E2761"/>
          </a:solidFill>
          <a:ln w="12700">
            <a:solidFill>
              <a:srgbClr val="1E2761"/>
            </a:solidFill>
            <a:prstDash val="solid"/>
          </a:ln>
        </p:spPr>
      </p:sp>
      <p:sp>
        <p:nvSpPr>
          <p:cNvPr id="31" name="Text 29"/>
          <p:cNvSpPr/>
          <p:nvPr/>
        </p:nvSpPr>
        <p:spPr>
          <a:xfrm>
            <a:off x="548640" y="4480560"/>
            <a:ext cx="594360" cy="4114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R-09</a:t>
            </a:r>
            <a:endParaRPr lang="en-US" sz="1000" dirty="0"/>
          </a:p>
        </p:txBody>
      </p:sp>
      <p:sp>
        <p:nvSpPr>
          <p:cNvPr id="32" name="Text 30"/>
          <p:cNvSpPr/>
          <p:nvPr/>
        </p:nvSpPr>
        <p:spPr>
          <a:xfrm>
            <a:off x="1234440" y="4480560"/>
            <a:ext cx="4023360" cy="411480"/>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DCMA Level III CAR or contract withhold from CM compliance finding</a:t>
            </a:r>
            <a:endParaRPr lang="en-US" sz="1000" dirty="0"/>
          </a:p>
        </p:txBody>
      </p:sp>
      <p:sp>
        <p:nvSpPr>
          <p:cNvPr id="33" name="Shape 31"/>
          <p:cNvSpPr/>
          <p:nvPr/>
        </p:nvSpPr>
        <p:spPr>
          <a:xfrm>
            <a:off x="5349240" y="4526280"/>
            <a:ext cx="594360" cy="320040"/>
          </a:xfrm>
          <a:prstGeom prst="rect">
            <a:avLst/>
          </a:prstGeom>
          <a:solidFill>
            <a:srgbClr val="BF8F00"/>
          </a:solidFill>
          <a:ln w="12700">
            <a:solidFill>
              <a:srgbClr val="BF8F00"/>
            </a:solidFill>
            <a:prstDash val="solid"/>
          </a:ln>
        </p:spPr>
      </p:sp>
      <p:sp>
        <p:nvSpPr>
          <p:cNvPr id="34" name="Text 32"/>
          <p:cNvSpPr/>
          <p:nvPr/>
        </p:nvSpPr>
        <p:spPr>
          <a:xfrm>
            <a:off x="5349240" y="4526280"/>
            <a:ext cx="59436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MED</a:t>
            </a:r>
            <a:endParaRPr lang="en-US" sz="900" dirty="0"/>
          </a:p>
        </p:txBody>
      </p:sp>
      <p:sp>
        <p:nvSpPr>
          <p:cNvPr id="35" name="Shape 33"/>
          <p:cNvSpPr/>
          <p:nvPr/>
        </p:nvSpPr>
        <p:spPr>
          <a:xfrm>
            <a:off x="548640" y="4983480"/>
            <a:ext cx="594360" cy="411480"/>
          </a:xfrm>
          <a:prstGeom prst="rect">
            <a:avLst/>
          </a:prstGeom>
          <a:solidFill>
            <a:srgbClr val="1E2761"/>
          </a:solidFill>
          <a:ln w="12700">
            <a:solidFill>
              <a:srgbClr val="1E2761"/>
            </a:solidFill>
            <a:prstDash val="solid"/>
          </a:ln>
        </p:spPr>
      </p:sp>
      <p:sp>
        <p:nvSpPr>
          <p:cNvPr id="36" name="Text 34"/>
          <p:cNvSpPr/>
          <p:nvPr/>
        </p:nvSpPr>
        <p:spPr>
          <a:xfrm>
            <a:off x="548640" y="4983480"/>
            <a:ext cx="594360" cy="4114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R-10</a:t>
            </a:r>
            <a:endParaRPr lang="en-US" sz="1000" dirty="0"/>
          </a:p>
        </p:txBody>
      </p:sp>
      <p:sp>
        <p:nvSpPr>
          <p:cNvPr id="37" name="Text 35"/>
          <p:cNvSpPr/>
          <p:nvPr/>
        </p:nvSpPr>
        <p:spPr>
          <a:xfrm>
            <a:off x="1234440" y="4983480"/>
            <a:ext cx="4023360" cy="411480"/>
          </a:xfrm>
          <a:prstGeom prst="rect">
            <a:avLst/>
          </a:prstGeom>
          <a:noFill/>
          <a:ln/>
        </p:spPr>
        <p:txBody>
          <a:bodyPr wrap="square" lIns="0" tIns="0" rIns="0" bIns="0" rtlCol="0" anchor="ctr"/>
          <a:lstStyle/>
          <a:p>
            <a:pPr indent="0" marL="0">
              <a:buNone/>
            </a:pPr>
            <a:r>
              <a:rPr lang="en-US" sz="1000" dirty="0">
                <a:solidFill>
                  <a:srgbClr val="1A1A1A"/>
                </a:solidFill>
                <a:latin typeface="Calibri" pitchFamily="34" charset="0"/>
                <a:ea typeface="Calibri" pitchFamily="34" charset="-122"/>
                <a:cs typeface="Calibri" pitchFamily="34" charset="-120"/>
              </a:rPr>
              <a:t>Lost recompete: customer audit finds us below peer standard</a:t>
            </a:r>
            <a:endParaRPr lang="en-US" sz="1000" dirty="0"/>
          </a:p>
        </p:txBody>
      </p:sp>
      <p:sp>
        <p:nvSpPr>
          <p:cNvPr id="38" name="Shape 36"/>
          <p:cNvSpPr/>
          <p:nvPr/>
        </p:nvSpPr>
        <p:spPr>
          <a:xfrm>
            <a:off x="5349240" y="5029200"/>
            <a:ext cx="594360" cy="320040"/>
          </a:xfrm>
          <a:prstGeom prst="rect">
            <a:avLst/>
          </a:prstGeom>
          <a:solidFill>
            <a:srgbClr val="BF8F00"/>
          </a:solidFill>
          <a:ln w="12700">
            <a:solidFill>
              <a:srgbClr val="BF8F00"/>
            </a:solidFill>
            <a:prstDash val="solid"/>
          </a:ln>
        </p:spPr>
      </p:sp>
      <p:sp>
        <p:nvSpPr>
          <p:cNvPr id="39" name="Text 37"/>
          <p:cNvSpPr/>
          <p:nvPr/>
        </p:nvSpPr>
        <p:spPr>
          <a:xfrm>
            <a:off x="5349240" y="5029200"/>
            <a:ext cx="594360"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MED</a:t>
            </a:r>
            <a:endParaRPr lang="en-US" sz="900" dirty="0"/>
          </a:p>
        </p:txBody>
      </p:sp>
      <p:sp>
        <p:nvSpPr>
          <p:cNvPr id="40" name="Text 38"/>
          <p:cNvSpPr/>
          <p:nvPr/>
        </p:nvSpPr>
        <p:spPr>
          <a:xfrm>
            <a:off x="6355080" y="1600200"/>
            <a:ext cx="5486400" cy="274320"/>
          </a:xfrm>
          <a:prstGeom prst="rect">
            <a:avLst/>
          </a:prstGeom>
          <a:noFill/>
          <a:ln/>
        </p:spPr>
        <p:txBody>
          <a:bodyPr wrap="square" lIns="0" tIns="0" rIns="0" bIns="0" rtlCol="0" anchor="ctr"/>
          <a:lstStyle/>
          <a:p>
            <a:pPr indent="0" marL="0">
              <a:buNone/>
            </a:pPr>
            <a:r>
              <a:rPr lang="en-US" sz="1200" b="1" spc="400" kern="0" dirty="0">
                <a:solidFill>
                  <a:srgbClr val="C00000"/>
                </a:solidFill>
                <a:latin typeface="Calibri" pitchFamily="34" charset="0"/>
                <a:ea typeface="Calibri" pitchFamily="34" charset="-122"/>
                <a:cs typeface="Calibri" pitchFamily="34" charset="-120"/>
              </a:rPr>
              <a:t>12-MONTH IMPLEMENTATION PLAN</a:t>
            </a:r>
            <a:endParaRPr lang="en-US" sz="1200" dirty="0"/>
          </a:p>
        </p:txBody>
      </p:sp>
      <p:sp>
        <p:nvSpPr>
          <p:cNvPr id="41" name="Shape 39"/>
          <p:cNvSpPr/>
          <p:nvPr/>
        </p:nvSpPr>
        <p:spPr>
          <a:xfrm>
            <a:off x="6355080" y="1920240"/>
            <a:ext cx="5257800" cy="1417320"/>
          </a:xfrm>
          <a:prstGeom prst="rect">
            <a:avLst/>
          </a:prstGeom>
          <a:solidFill>
            <a:srgbClr val="F5F7FA"/>
          </a:solidFill>
          <a:ln w="12700">
            <a:solidFill>
              <a:srgbClr val="E2E8F0"/>
            </a:solidFill>
            <a:prstDash val="solid"/>
          </a:ln>
        </p:spPr>
      </p:sp>
      <p:sp>
        <p:nvSpPr>
          <p:cNvPr id="42" name="Shape 40"/>
          <p:cNvSpPr/>
          <p:nvPr/>
        </p:nvSpPr>
        <p:spPr>
          <a:xfrm>
            <a:off x="6355080" y="1920240"/>
            <a:ext cx="73152" cy="1417320"/>
          </a:xfrm>
          <a:prstGeom prst="rect">
            <a:avLst/>
          </a:prstGeom>
          <a:solidFill>
            <a:srgbClr val="1E2761"/>
          </a:solidFill>
          <a:ln w="12700">
            <a:solidFill>
              <a:srgbClr val="1E2761"/>
            </a:solidFill>
            <a:prstDash val="solid"/>
          </a:ln>
        </p:spPr>
      </p:sp>
      <p:sp>
        <p:nvSpPr>
          <p:cNvPr id="43" name="Text 41"/>
          <p:cNvSpPr/>
          <p:nvPr/>
        </p:nvSpPr>
        <p:spPr>
          <a:xfrm>
            <a:off x="6537960" y="2011680"/>
            <a:ext cx="2286000" cy="274320"/>
          </a:xfrm>
          <a:prstGeom prst="rect">
            <a:avLst/>
          </a:prstGeom>
          <a:noFill/>
          <a:ln/>
        </p:spPr>
        <p:txBody>
          <a:bodyPr wrap="square" lIns="0" tIns="0" rIns="0" bIns="0" rtlCol="0" anchor="ctr"/>
          <a:lstStyle/>
          <a:p>
            <a:pPr indent="0" marL="0">
              <a:buNone/>
            </a:pPr>
            <a:r>
              <a:rPr lang="en-US" sz="1000" b="1" spc="400" kern="0" dirty="0">
                <a:solidFill>
                  <a:srgbClr val="C00000"/>
                </a:solidFill>
                <a:latin typeface="Calibri" pitchFamily="34" charset="0"/>
                <a:ea typeface="Calibri" pitchFamily="34" charset="-122"/>
                <a:cs typeface="Calibri" pitchFamily="34" charset="-120"/>
              </a:rPr>
              <a:t>DAYS 0–90</a:t>
            </a:r>
            <a:endParaRPr lang="en-US" sz="1000" dirty="0"/>
          </a:p>
        </p:txBody>
      </p:sp>
      <p:sp>
        <p:nvSpPr>
          <p:cNvPr id="44" name="Text 42"/>
          <p:cNvSpPr/>
          <p:nvPr/>
        </p:nvSpPr>
        <p:spPr>
          <a:xfrm>
            <a:off x="8823960" y="2011680"/>
            <a:ext cx="2743200" cy="274320"/>
          </a:xfrm>
          <a:prstGeom prst="rect">
            <a:avLst/>
          </a:prstGeom>
          <a:noFill/>
          <a:ln/>
        </p:spPr>
        <p:txBody>
          <a:bodyPr wrap="square" lIns="0" tIns="0" rIns="0" bIns="0" rtlCol="0" anchor="ctr"/>
          <a:lstStyle/>
          <a:p>
            <a:pPr algn="r" indent="0" marL="0">
              <a:buNone/>
            </a:pPr>
            <a:r>
              <a:rPr lang="en-US" sz="1300" b="1" dirty="0">
                <a:solidFill>
                  <a:srgbClr val="1E2761"/>
                </a:solidFill>
                <a:latin typeface="Georgia" pitchFamily="34" charset="0"/>
                <a:ea typeface="Georgia" pitchFamily="34" charset="-122"/>
                <a:cs typeface="Georgia" pitchFamily="34" charset="-120"/>
              </a:rPr>
              <a:t>Foundation</a:t>
            </a:r>
            <a:endParaRPr lang="en-US" sz="1300" dirty="0"/>
          </a:p>
        </p:txBody>
      </p:sp>
      <p:sp>
        <p:nvSpPr>
          <p:cNvPr id="45" name="Text 43"/>
          <p:cNvSpPr/>
          <p:nvPr/>
        </p:nvSpPr>
        <p:spPr>
          <a:xfrm>
            <a:off x="6583680" y="2331720"/>
            <a:ext cx="4937760" cy="960120"/>
          </a:xfrm>
          <a:prstGeom prst="rect">
            <a:avLst/>
          </a:prstGeom>
          <a:noFill/>
          <a:ln/>
        </p:spPr>
        <p:txBody>
          <a:bodyPr wrap="square" lIns="0" tIns="0" rIns="0" bIns="0" rtlCol="0" anchor="t"/>
          <a:lstStyle/>
          <a:p>
            <a:pPr marL="342900" indent="-342900">
              <a:spcAft>
                <a:spcPts val="100"/>
              </a:spcAft>
              <a:buSzPct val="100000"/>
              <a:buChar char="•"/>
            </a:pPr>
            <a:r>
              <a:rPr lang="en-US" sz="1000" dirty="0">
                <a:solidFill>
                  <a:srgbClr val="1A1A1A"/>
                </a:solidFill>
                <a:latin typeface="Calibri" pitchFamily="34" charset="0"/>
                <a:ea typeface="Calibri" pitchFamily="34" charset="-122"/>
                <a:cs typeface="Calibri" pitchFamily="34" charset="-120"/>
              </a:rPr>
              <a:t>Approve and publish four-tier model</a:t>
            </a:r>
            <a:endParaRPr lang="en-US" sz="1000" dirty="0"/>
          </a:p>
          <a:p>
            <a:pPr marL="342900" indent="-342900">
              <a:spcAft>
                <a:spcPts val="100"/>
              </a:spcAft>
              <a:buSzPct val="100000"/>
              <a:buChar char="•"/>
            </a:pPr>
            <a:r>
              <a:rPr lang="en-US" sz="1000" dirty="0">
                <a:solidFill>
                  <a:srgbClr val="1A1A1A"/>
                </a:solidFill>
                <a:latin typeface="Calibri" pitchFamily="34" charset="0"/>
                <a:ea typeface="Calibri" pitchFamily="34" charset="-122"/>
                <a:cs typeface="Calibri" pitchFamily="34" charset="-120"/>
              </a:rPr>
              <a:t>Update HR position descriptions</a:t>
            </a:r>
            <a:endParaRPr lang="en-US" sz="1000" dirty="0"/>
          </a:p>
          <a:p>
            <a:pPr marL="342900" indent="-342900">
              <a:spcAft>
                <a:spcPts val="100"/>
              </a:spcAft>
              <a:buSzPct val="100000"/>
              <a:buChar char="•"/>
            </a:pPr>
            <a:r>
              <a:rPr lang="en-US" sz="1000" dirty="0">
                <a:solidFill>
                  <a:srgbClr val="1A1A1A"/>
                </a:solidFill>
                <a:latin typeface="Calibri" pitchFamily="34" charset="0"/>
                <a:ea typeface="Calibri" pitchFamily="34" charset="-122"/>
                <a:cs typeface="Calibri" pitchFamily="34" charset="-120"/>
              </a:rPr>
              <a:t>Complete Gap Assessment</a:t>
            </a:r>
            <a:endParaRPr lang="en-US" sz="1000" dirty="0"/>
          </a:p>
          <a:p>
            <a:pPr marL="342900" indent="-342900">
              <a:spcAft>
                <a:spcPts val="100"/>
              </a:spcAft>
              <a:buSzPct val="100000"/>
              <a:buChar char="•"/>
            </a:pPr>
            <a:r>
              <a:rPr lang="en-US" sz="1000" dirty="0">
                <a:solidFill>
                  <a:srgbClr val="1A1A1A"/>
                </a:solidFill>
                <a:latin typeface="Calibri" pitchFamily="34" charset="0"/>
                <a:ea typeface="Calibri" pitchFamily="34" charset="-122"/>
                <a:cs typeface="Calibri" pitchFamily="34" charset="-120"/>
              </a:rPr>
              <a:t>Recognize current SMEs (incl. equivalency-qualified)</a:t>
            </a:r>
            <a:endParaRPr lang="en-US" sz="1000" dirty="0"/>
          </a:p>
          <a:p>
            <a:pPr marL="342900" indent="-342900">
              <a:spcAft>
                <a:spcPts val="100"/>
              </a:spcAft>
              <a:buSzPct val="100000"/>
              <a:buChar char="•"/>
            </a:pPr>
            <a:r>
              <a:rPr lang="en-US" sz="1000" dirty="0">
                <a:solidFill>
                  <a:srgbClr val="1A1A1A"/>
                </a:solidFill>
                <a:latin typeface="Calibri" pitchFamily="34" charset="0"/>
                <a:ea typeface="Calibri" pitchFamily="34" charset="-122"/>
                <a:cs typeface="Calibri" pitchFamily="34" charset="-120"/>
              </a:rPr>
              <a:t>Begin CSA tool RFI</a:t>
            </a:r>
            <a:endParaRPr lang="en-US" sz="1000" dirty="0"/>
          </a:p>
        </p:txBody>
      </p:sp>
      <p:sp>
        <p:nvSpPr>
          <p:cNvPr id="46" name="Shape 44"/>
          <p:cNvSpPr/>
          <p:nvPr/>
        </p:nvSpPr>
        <p:spPr>
          <a:xfrm>
            <a:off x="6355080" y="3429000"/>
            <a:ext cx="5257800" cy="1417320"/>
          </a:xfrm>
          <a:prstGeom prst="rect">
            <a:avLst/>
          </a:prstGeom>
          <a:solidFill>
            <a:srgbClr val="F5F7FA"/>
          </a:solidFill>
          <a:ln w="12700">
            <a:solidFill>
              <a:srgbClr val="E2E8F0"/>
            </a:solidFill>
            <a:prstDash val="solid"/>
          </a:ln>
        </p:spPr>
      </p:sp>
      <p:sp>
        <p:nvSpPr>
          <p:cNvPr id="47" name="Shape 45"/>
          <p:cNvSpPr/>
          <p:nvPr/>
        </p:nvSpPr>
        <p:spPr>
          <a:xfrm>
            <a:off x="6355080" y="3429000"/>
            <a:ext cx="73152" cy="1417320"/>
          </a:xfrm>
          <a:prstGeom prst="rect">
            <a:avLst/>
          </a:prstGeom>
          <a:solidFill>
            <a:srgbClr val="1E2761"/>
          </a:solidFill>
          <a:ln w="12700">
            <a:solidFill>
              <a:srgbClr val="1E2761"/>
            </a:solidFill>
            <a:prstDash val="solid"/>
          </a:ln>
        </p:spPr>
      </p:sp>
      <p:sp>
        <p:nvSpPr>
          <p:cNvPr id="48" name="Text 46"/>
          <p:cNvSpPr/>
          <p:nvPr/>
        </p:nvSpPr>
        <p:spPr>
          <a:xfrm>
            <a:off x="6537960" y="3520440"/>
            <a:ext cx="2286000" cy="274320"/>
          </a:xfrm>
          <a:prstGeom prst="rect">
            <a:avLst/>
          </a:prstGeom>
          <a:noFill/>
          <a:ln/>
        </p:spPr>
        <p:txBody>
          <a:bodyPr wrap="square" lIns="0" tIns="0" rIns="0" bIns="0" rtlCol="0" anchor="ctr"/>
          <a:lstStyle/>
          <a:p>
            <a:pPr indent="0" marL="0">
              <a:buNone/>
            </a:pPr>
            <a:r>
              <a:rPr lang="en-US" sz="1000" b="1" spc="400" kern="0" dirty="0">
                <a:solidFill>
                  <a:srgbClr val="C00000"/>
                </a:solidFill>
                <a:latin typeface="Calibri" pitchFamily="34" charset="0"/>
                <a:ea typeface="Calibri" pitchFamily="34" charset="-122"/>
                <a:cs typeface="Calibri" pitchFamily="34" charset="-120"/>
              </a:rPr>
              <a:t>DAYS 91–180</a:t>
            </a:r>
            <a:endParaRPr lang="en-US" sz="1000" dirty="0"/>
          </a:p>
        </p:txBody>
      </p:sp>
      <p:sp>
        <p:nvSpPr>
          <p:cNvPr id="49" name="Text 47"/>
          <p:cNvSpPr/>
          <p:nvPr/>
        </p:nvSpPr>
        <p:spPr>
          <a:xfrm>
            <a:off x="8823960" y="3520440"/>
            <a:ext cx="2743200" cy="274320"/>
          </a:xfrm>
          <a:prstGeom prst="rect">
            <a:avLst/>
          </a:prstGeom>
          <a:noFill/>
          <a:ln/>
        </p:spPr>
        <p:txBody>
          <a:bodyPr wrap="square" lIns="0" tIns="0" rIns="0" bIns="0" rtlCol="0" anchor="ctr"/>
          <a:lstStyle/>
          <a:p>
            <a:pPr algn="r" indent="0" marL="0">
              <a:buNone/>
            </a:pPr>
            <a:r>
              <a:rPr lang="en-US" sz="1300" b="1" dirty="0">
                <a:solidFill>
                  <a:srgbClr val="1E2761"/>
                </a:solidFill>
                <a:latin typeface="Georgia" pitchFamily="34" charset="0"/>
                <a:ea typeface="Georgia" pitchFamily="34" charset="-122"/>
                <a:cs typeface="Georgia" pitchFamily="34" charset="-120"/>
              </a:rPr>
              <a:t>Activation</a:t>
            </a:r>
            <a:endParaRPr lang="en-US" sz="1300" dirty="0"/>
          </a:p>
        </p:txBody>
      </p:sp>
      <p:sp>
        <p:nvSpPr>
          <p:cNvPr id="50" name="Text 48"/>
          <p:cNvSpPr/>
          <p:nvPr/>
        </p:nvSpPr>
        <p:spPr>
          <a:xfrm>
            <a:off x="6583680" y="3840480"/>
            <a:ext cx="4937760" cy="960120"/>
          </a:xfrm>
          <a:prstGeom prst="rect">
            <a:avLst/>
          </a:prstGeom>
          <a:noFill/>
          <a:ln/>
        </p:spPr>
        <p:txBody>
          <a:bodyPr wrap="square" lIns="0" tIns="0" rIns="0" bIns="0" rtlCol="0" anchor="t"/>
          <a:lstStyle/>
          <a:p>
            <a:pPr marL="342900" indent="-342900">
              <a:spcAft>
                <a:spcPts val="100"/>
              </a:spcAft>
              <a:buSzPct val="100000"/>
              <a:buChar char="•"/>
            </a:pPr>
            <a:r>
              <a:rPr lang="en-US" sz="1000" dirty="0">
                <a:solidFill>
                  <a:srgbClr val="1A1A1A"/>
                </a:solidFill>
                <a:latin typeface="Calibri" pitchFamily="34" charset="0"/>
                <a:ea typeface="Calibri" pitchFamily="34" charset="-122"/>
                <a:cs typeface="Calibri" pitchFamily="34" charset="-120"/>
              </a:rPr>
              <a:t>Begin Tier 3 external hiring</a:t>
            </a:r>
            <a:endParaRPr lang="en-US" sz="1000" dirty="0"/>
          </a:p>
          <a:p>
            <a:pPr marL="342900" indent="-342900">
              <a:spcAft>
                <a:spcPts val="100"/>
              </a:spcAft>
              <a:buSzPct val="100000"/>
              <a:buChar char="•"/>
            </a:pPr>
            <a:r>
              <a:rPr lang="en-US" sz="1000" dirty="0">
                <a:solidFill>
                  <a:srgbClr val="1A1A1A"/>
                </a:solidFill>
                <a:latin typeface="Calibri" pitchFamily="34" charset="0"/>
                <a:ea typeface="Calibri" pitchFamily="34" charset="-122"/>
                <a:cs typeface="Calibri" pitchFamily="34" charset="-120"/>
              </a:rPr>
              <a:t>Launch tuition assistance</a:t>
            </a:r>
            <a:endParaRPr lang="en-US" sz="1000" dirty="0"/>
          </a:p>
          <a:p>
            <a:pPr marL="342900" indent="-342900">
              <a:spcAft>
                <a:spcPts val="100"/>
              </a:spcAft>
              <a:buSzPct val="100000"/>
              <a:buChar char="•"/>
            </a:pPr>
            <a:r>
              <a:rPr lang="en-US" sz="1000" dirty="0">
                <a:solidFill>
                  <a:srgbClr val="1A1A1A"/>
                </a:solidFill>
                <a:latin typeface="Calibri" pitchFamily="34" charset="0"/>
                <a:ea typeface="Calibri" pitchFamily="34" charset="-122"/>
                <a:cs typeface="Calibri" pitchFamily="34" charset="-120"/>
              </a:rPr>
              <a:t>Award CSA tool contract</a:t>
            </a:r>
            <a:endParaRPr lang="en-US" sz="1000" dirty="0"/>
          </a:p>
          <a:p>
            <a:pPr marL="342900" indent="-342900">
              <a:spcAft>
                <a:spcPts val="100"/>
              </a:spcAft>
              <a:buSzPct val="100000"/>
              <a:buChar char="•"/>
            </a:pPr>
            <a:r>
              <a:rPr lang="en-US" sz="1000" dirty="0">
                <a:solidFill>
                  <a:srgbClr val="1A1A1A"/>
                </a:solidFill>
                <a:latin typeface="Calibri" pitchFamily="34" charset="0"/>
                <a:ea typeface="Calibri" pitchFamily="34" charset="-122"/>
                <a:cs typeface="Calibri" pitchFamily="34" charset="-120"/>
              </a:rPr>
              <a:t>Begin EIA-649-1 training rollout</a:t>
            </a:r>
            <a:endParaRPr lang="en-US" sz="1000" dirty="0"/>
          </a:p>
        </p:txBody>
      </p:sp>
      <p:sp>
        <p:nvSpPr>
          <p:cNvPr id="51" name="Shape 49"/>
          <p:cNvSpPr/>
          <p:nvPr/>
        </p:nvSpPr>
        <p:spPr>
          <a:xfrm>
            <a:off x="6355080" y="4937760"/>
            <a:ext cx="5257800" cy="1417320"/>
          </a:xfrm>
          <a:prstGeom prst="rect">
            <a:avLst/>
          </a:prstGeom>
          <a:solidFill>
            <a:srgbClr val="F5F7FA"/>
          </a:solidFill>
          <a:ln w="12700">
            <a:solidFill>
              <a:srgbClr val="E2E8F0"/>
            </a:solidFill>
            <a:prstDash val="solid"/>
          </a:ln>
        </p:spPr>
      </p:sp>
      <p:sp>
        <p:nvSpPr>
          <p:cNvPr id="52" name="Shape 50"/>
          <p:cNvSpPr/>
          <p:nvPr/>
        </p:nvSpPr>
        <p:spPr>
          <a:xfrm>
            <a:off x="6355080" y="4937760"/>
            <a:ext cx="73152" cy="1417320"/>
          </a:xfrm>
          <a:prstGeom prst="rect">
            <a:avLst/>
          </a:prstGeom>
          <a:solidFill>
            <a:srgbClr val="1E2761"/>
          </a:solidFill>
          <a:ln w="12700">
            <a:solidFill>
              <a:srgbClr val="1E2761"/>
            </a:solidFill>
            <a:prstDash val="solid"/>
          </a:ln>
        </p:spPr>
      </p:sp>
      <p:sp>
        <p:nvSpPr>
          <p:cNvPr id="53" name="Text 51"/>
          <p:cNvSpPr/>
          <p:nvPr/>
        </p:nvSpPr>
        <p:spPr>
          <a:xfrm>
            <a:off x="6537960" y="5029200"/>
            <a:ext cx="2286000" cy="274320"/>
          </a:xfrm>
          <a:prstGeom prst="rect">
            <a:avLst/>
          </a:prstGeom>
          <a:noFill/>
          <a:ln/>
        </p:spPr>
        <p:txBody>
          <a:bodyPr wrap="square" lIns="0" tIns="0" rIns="0" bIns="0" rtlCol="0" anchor="ctr"/>
          <a:lstStyle/>
          <a:p>
            <a:pPr indent="0" marL="0">
              <a:buNone/>
            </a:pPr>
            <a:r>
              <a:rPr lang="en-US" sz="1000" b="1" spc="400" kern="0" dirty="0">
                <a:solidFill>
                  <a:srgbClr val="C00000"/>
                </a:solidFill>
                <a:latin typeface="Calibri" pitchFamily="34" charset="0"/>
                <a:ea typeface="Calibri" pitchFamily="34" charset="-122"/>
                <a:cs typeface="Calibri" pitchFamily="34" charset="-120"/>
              </a:rPr>
              <a:t>DAYS 181–365</a:t>
            </a:r>
            <a:endParaRPr lang="en-US" sz="1000" dirty="0"/>
          </a:p>
        </p:txBody>
      </p:sp>
      <p:sp>
        <p:nvSpPr>
          <p:cNvPr id="54" name="Text 52"/>
          <p:cNvSpPr/>
          <p:nvPr/>
        </p:nvSpPr>
        <p:spPr>
          <a:xfrm>
            <a:off x="8823960" y="5029200"/>
            <a:ext cx="2743200" cy="274320"/>
          </a:xfrm>
          <a:prstGeom prst="rect">
            <a:avLst/>
          </a:prstGeom>
          <a:noFill/>
          <a:ln/>
        </p:spPr>
        <p:txBody>
          <a:bodyPr wrap="square" lIns="0" tIns="0" rIns="0" bIns="0" rtlCol="0" anchor="ctr"/>
          <a:lstStyle/>
          <a:p>
            <a:pPr algn="r" indent="0" marL="0">
              <a:buNone/>
            </a:pPr>
            <a:r>
              <a:rPr lang="en-US" sz="1300" b="1" dirty="0">
                <a:solidFill>
                  <a:srgbClr val="1E2761"/>
                </a:solidFill>
                <a:latin typeface="Georgia" pitchFamily="34" charset="0"/>
                <a:ea typeface="Georgia" pitchFamily="34" charset="-122"/>
                <a:cs typeface="Georgia" pitchFamily="34" charset="-120"/>
              </a:rPr>
              <a:t>Institutionalization</a:t>
            </a:r>
            <a:endParaRPr lang="en-US" sz="1300" dirty="0"/>
          </a:p>
        </p:txBody>
      </p:sp>
      <p:sp>
        <p:nvSpPr>
          <p:cNvPr id="55" name="Text 53"/>
          <p:cNvSpPr/>
          <p:nvPr/>
        </p:nvSpPr>
        <p:spPr>
          <a:xfrm>
            <a:off x="6583680" y="5349240"/>
            <a:ext cx="4937760" cy="960120"/>
          </a:xfrm>
          <a:prstGeom prst="rect">
            <a:avLst/>
          </a:prstGeom>
          <a:noFill/>
          <a:ln/>
        </p:spPr>
        <p:txBody>
          <a:bodyPr wrap="square" lIns="0" tIns="0" rIns="0" bIns="0" rtlCol="0" anchor="t"/>
          <a:lstStyle/>
          <a:p>
            <a:pPr marL="342900" indent="-342900">
              <a:spcAft>
                <a:spcPts val="100"/>
              </a:spcAft>
              <a:buSzPct val="100000"/>
              <a:buChar char="•"/>
            </a:pPr>
            <a:r>
              <a:rPr lang="en-US" sz="1000" dirty="0">
                <a:solidFill>
                  <a:srgbClr val="1A1A1A"/>
                </a:solidFill>
                <a:latin typeface="Calibri" pitchFamily="34" charset="0"/>
                <a:ea typeface="Calibri" pitchFamily="34" charset="-122"/>
                <a:cs typeface="Calibri" pitchFamily="34" charset="-120"/>
              </a:rPr>
              <a:t>Complete Tier 3 hiring for all critical roles</a:t>
            </a:r>
            <a:endParaRPr lang="en-US" sz="1000" dirty="0"/>
          </a:p>
          <a:p>
            <a:pPr marL="342900" indent="-342900">
              <a:spcAft>
                <a:spcPts val="100"/>
              </a:spcAft>
              <a:buSzPct val="100000"/>
              <a:buChar char="•"/>
            </a:pPr>
            <a:r>
              <a:rPr lang="en-US" sz="1000" dirty="0">
                <a:solidFill>
                  <a:srgbClr val="1A1A1A"/>
                </a:solidFill>
                <a:latin typeface="Calibri" pitchFamily="34" charset="0"/>
                <a:ea typeface="Calibri" pitchFamily="34" charset="-122"/>
                <a:cs typeface="Calibri" pitchFamily="34" charset="-120"/>
              </a:rPr>
              <a:t>Complete CSA tool implementation</a:t>
            </a:r>
            <a:endParaRPr lang="en-US" sz="1000" dirty="0"/>
          </a:p>
          <a:p>
            <a:pPr marL="342900" indent="-342900">
              <a:spcAft>
                <a:spcPts val="100"/>
              </a:spcAft>
              <a:buSzPct val="100000"/>
              <a:buChar char="•"/>
            </a:pPr>
            <a:r>
              <a:rPr lang="en-US" sz="1000" dirty="0">
                <a:solidFill>
                  <a:srgbClr val="1A1A1A"/>
                </a:solidFill>
                <a:latin typeface="Calibri" pitchFamily="34" charset="0"/>
                <a:ea typeface="Calibri" pitchFamily="34" charset="-122"/>
                <a:cs typeface="Calibri" pitchFamily="34" charset="-120"/>
              </a:rPr>
              <a:t>First internal CM compliance audit</a:t>
            </a:r>
            <a:endParaRPr lang="en-US" sz="1000" dirty="0"/>
          </a:p>
          <a:p>
            <a:pPr marL="342900" indent="-342900">
              <a:spcAft>
                <a:spcPts val="100"/>
              </a:spcAft>
              <a:buSzPct val="100000"/>
              <a:buChar char="•"/>
            </a:pPr>
            <a:r>
              <a:rPr lang="en-US" sz="1000" dirty="0">
                <a:solidFill>
                  <a:srgbClr val="1A1A1A"/>
                </a:solidFill>
                <a:latin typeface="Calibri" pitchFamily="34" charset="0"/>
                <a:ea typeface="Calibri" pitchFamily="34" charset="-122"/>
                <a:cs typeface="Calibri" pitchFamily="34" charset="-120"/>
              </a:rPr>
              <a:t>100% EIA-649-1 training</a:t>
            </a:r>
            <a:endParaRPr lang="en-US" sz="1000" dirty="0"/>
          </a:p>
          <a:p>
            <a:pPr marL="342900" indent="-342900">
              <a:spcAft>
                <a:spcPts val="100"/>
              </a:spcAft>
              <a:buSzPct val="100000"/>
              <a:buChar char="•"/>
            </a:pPr>
            <a:r>
              <a:rPr lang="en-US" sz="1000" dirty="0">
                <a:solidFill>
                  <a:srgbClr val="1A1A1A"/>
                </a:solidFill>
                <a:latin typeface="Calibri" pitchFamily="34" charset="0"/>
                <a:ea typeface="Calibri" pitchFamily="34" charset="-122"/>
                <a:cs typeface="Calibri" pitchFamily="34" charset="-120"/>
              </a:rPr>
              <a:t>Annual workforce report</a:t>
            </a:r>
            <a:endParaRPr lang="en-US" sz="1000" dirty="0"/>
          </a:p>
        </p:txBody>
      </p:sp>
      <p:sp>
        <p:nvSpPr>
          <p:cNvPr id="56" name="Text 54"/>
          <p:cNvSpPr/>
          <p:nvPr/>
        </p:nvSpPr>
        <p:spPr>
          <a:xfrm>
            <a:off x="457200" y="6537960"/>
            <a:ext cx="8229600" cy="228600"/>
          </a:xfrm>
          <a:prstGeom prst="rect">
            <a:avLst/>
          </a:prstGeom>
          <a:noFill/>
          <a:ln/>
        </p:spPr>
        <p:txBody>
          <a:bodyPr wrap="square" lIns="0" tIns="0" rIns="0" bIns="0" rtlCol="0" anchor="ctr"/>
          <a:lstStyle/>
          <a:p>
            <a:pPr algn="l" indent="0" marL="0">
              <a:buNone/>
            </a:pPr>
            <a:r>
              <a:rPr lang="en-US" sz="900" dirty="0">
                <a:solidFill>
                  <a:srgbClr val="64748B"/>
                </a:solidFill>
                <a:latin typeface="Calibri" pitchFamily="34" charset="0"/>
                <a:ea typeface="Calibri" pitchFamily="34" charset="-122"/>
                <a:cs typeface="Calibri" pitchFamily="34" charset="-120"/>
              </a:rPr>
              <a:t>CM Workforce Competency Analysis  |  EIA-649-1</a:t>
            </a:r>
            <a:endParaRPr lang="en-US" sz="900" dirty="0"/>
          </a:p>
        </p:txBody>
      </p:sp>
      <p:sp>
        <p:nvSpPr>
          <p:cNvPr id="57" name="Text 55"/>
          <p:cNvSpPr/>
          <p:nvPr/>
        </p:nvSpPr>
        <p:spPr>
          <a:xfrm>
            <a:off x="10972800" y="6537960"/>
            <a:ext cx="731520" cy="22860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C00000"/>
          </a:solidFill>
          <a:ln w="12700">
            <a:solidFill>
              <a:srgbClr val="C00000"/>
            </a:solidFill>
            <a:prstDash val="solid"/>
          </a:ln>
        </p:spPr>
      </p:sp>
      <p:sp>
        <p:nvSpPr>
          <p:cNvPr id="3" name="Text 1"/>
          <p:cNvSpPr/>
          <p:nvPr/>
        </p:nvSpPr>
        <p:spPr>
          <a:xfrm>
            <a:off x="914400" y="502920"/>
            <a:ext cx="10972800" cy="365760"/>
          </a:xfrm>
          <a:prstGeom prst="rect">
            <a:avLst/>
          </a:prstGeom>
          <a:noFill/>
          <a:ln/>
        </p:spPr>
        <p:txBody>
          <a:bodyPr wrap="square" lIns="0" tIns="0" rIns="0" bIns="0" rtlCol="0" anchor="ctr"/>
          <a:lstStyle/>
          <a:p>
            <a:pPr indent="0" marL="0">
              <a:buNone/>
            </a:pPr>
            <a:r>
              <a:rPr lang="en-US" sz="1400" b="1" spc="800" kern="0" dirty="0">
                <a:solidFill>
                  <a:srgbClr val="C00000"/>
                </a:solidFill>
                <a:latin typeface="Calibri" pitchFamily="34" charset="0"/>
                <a:ea typeface="Calibri" pitchFamily="34" charset="-122"/>
                <a:cs typeface="Calibri" pitchFamily="34" charset="-120"/>
              </a:rPr>
              <a:t>BOTTOM LINE</a:t>
            </a:r>
            <a:endParaRPr lang="en-US" sz="1400" dirty="0"/>
          </a:p>
        </p:txBody>
      </p:sp>
      <p:sp>
        <p:nvSpPr>
          <p:cNvPr id="4" name="Text 2"/>
          <p:cNvSpPr/>
          <p:nvPr/>
        </p:nvSpPr>
        <p:spPr>
          <a:xfrm>
            <a:off x="914400" y="914400"/>
            <a:ext cx="10972800" cy="73152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Decision Requested</a:t>
            </a:r>
            <a:endParaRPr lang="en-US" sz="4000" dirty="0"/>
          </a:p>
        </p:txBody>
      </p:sp>
      <p:sp>
        <p:nvSpPr>
          <p:cNvPr id="5" name="Text 3"/>
          <p:cNvSpPr/>
          <p:nvPr/>
        </p:nvSpPr>
        <p:spPr>
          <a:xfrm>
            <a:off x="914400" y="2011680"/>
            <a:ext cx="10515600" cy="36576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EIA-649-1 is a technical compliance framework.</a:t>
            </a:r>
            <a:endParaRPr lang="en-US" sz="2000" dirty="0"/>
          </a:p>
        </p:txBody>
      </p:sp>
      <p:sp>
        <p:nvSpPr>
          <p:cNvPr id="6" name="Text 4"/>
          <p:cNvSpPr/>
          <p:nvPr/>
        </p:nvSpPr>
        <p:spPr>
          <a:xfrm>
            <a:off x="914400" y="2423160"/>
            <a:ext cx="10515600" cy="594360"/>
          </a:xfrm>
          <a:prstGeom prst="rect">
            <a:avLst/>
          </a:prstGeom>
          <a:noFill/>
          <a:ln/>
        </p:spPr>
        <p:txBody>
          <a:bodyPr wrap="square" lIns="0" tIns="0" rIns="0" bIns="0" rtlCol="0" anchor="t"/>
          <a:lstStyle/>
          <a:p>
            <a:pPr indent="0" marL="0">
              <a:buNone/>
            </a:pPr>
            <a:r>
              <a:rPr lang="en-US" sz="1400" dirty="0">
                <a:solidFill>
                  <a:srgbClr val="BDD7EE"/>
                </a:solidFill>
                <a:latin typeface="Calibri" pitchFamily="34" charset="0"/>
                <a:ea typeface="Calibri" pitchFamily="34" charset="-122"/>
                <a:cs typeface="Calibri" pitchFamily="34" charset="-120"/>
              </a:rPr>
              <a:t>Three of its five functions cannot be executed without engineering-level competency. This is a contractual obligation, not a preference.</a:t>
            </a:r>
            <a:endParaRPr lang="en-US" sz="1400" dirty="0"/>
          </a:p>
        </p:txBody>
      </p:sp>
      <p:sp>
        <p:nvSpPr>
          <p:cNvPr id="7" name="Text 5"/>
          <p:cNvSpPr/>
          <p:nvPr/>
        </p:nvSpPr>
        <p:spPr>
          <a:xfrm>
            <a:off x="914400" y="3246120"/>
            <a:ext cx="10515600" cy="36576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Our peers already operate this way.</a:t>
            </a:r>
            <a:endParaRPr lang="en-US" sz="2000" dirty="0"/>
          </a:p>
        </p:txBody>
      </p:sp>
      <p:sp>
        <p:nvSpPr>
          <p:cNvPr id="8" name="Text 6"/>
          <p:cNvSpPr/>
          <p:nvPr/>
        </p:nvSpPr>
        <p:spPr>
          <a:xfrm>
            <a:off x="914400" y="3657600"/>
            <a:ext cx="10515600" cy="594360"/>
          </a:xfrm>
          <a:prstGeom prst="rect">
            <a:avLst/>
          </a:prstGeom>
          <a:noFill/>
          <a:ln/>
        </p:spPr>
        <p:txBody>
          <a:bodyPr wrap="square" lIns="0" tIns="0" rIns="0" bIns="0" rtlCol="0" anchor="t"/>
          <a:lstStyle/>
          <a:p>
            <a:pPr indent="0" marL="0">
              <a:buNone/>
            </a:pPr>
            <a:r>
              <a:rPr lang="en-US" sz="1400" dirty="0">
                <a:solidFill>
                  <a:srgbClr val="BDD7EE"/>
                </a:solidFill>
                <a:latin typeface="Calibri" pitchFamily="34" charset="0"/>
                <a:ea typeface="Calibri" pitchFamily="34" charset="-122"/>
                <a:cs typeface="Calibri" pitchFamily="34" charset="-120"/>
              </a:rPr>
              <a:t>Lockheed Martin, Northrop Grumman, Boeing, and Raytheon require engineering degrees for equivalent CM roles. We are below the industry baseline.</a:t>
            </a:r>
            <a:endParaRPr lang="en-US" sz="1400" dirty="0"/>
          </a:p>
        </p:txBody>
      </p:sp>
      <p:sp>
        <p:nvSpPr>
          <p:cNvPr id="9" name="Text 7"/>
          <p:cNvSpPr/>
          <p:nvPr/>
        </p:nvSpPr>
        <p:spPr>
          <a:xfrm>
            <a:off x="914400" y="4480560"/>
            <a:ext cx="10515600" cy="36576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The cost of inaction is measured in failed audits — and in case studies like these.</a:t>
            </a:r>
            <a:endParaRPr lang="en-US" sz="2000" dirty="0"/>
          </a:p>
        </p:txBody>
      </p:sp>
      <p:sp>
        <p:nvSpPr>
          <p:cNvPr id="10" name="Text 8"/>
          <p:cNvSpPr/>
          <p:nvPr/>
        </p:nvSpPr>
        <p:spPr>
          <a:xfrm>
            <a:off x="914400" y="4892040"/>
            <a:ext cx="10515600" cy="594360"/>
          </a:xfrm>
          <a:prstGeom prst="rect">
            <a:avLst/>
          </a:prstGeom>
          <a:noFill/>
          <a:ln/>
        </p:spPr>
        <p:txBody>
          <a:bodyPr wrap="square" lIns="0" tIns="0" rIns="0" bIns="0" rtlCol="0" anchor="t"/>
          <a:lstStyle/>
          <a:p>
            <a:pPr indent="0" marL="0">
              <a:buNone/>
            </a:pPr>
            <a:r>
              <a:rPr lang="en-US" sz="1400" dirty="0">
                <a:solidFill>
                  <a:srgbClr val="BDD7EE"/>
                </a:solidFill>
                <a:latin typeface="Calibri" pitchFamily="34" charset="0"/>
                <a:ea typeface="Calibri" pitchFamily="34" charset="-122"/>
                <a:cs typeface="Calibri" pitchFamily="34" charset="-120"/>
              </a:rPr>
              <a:t>$1.4B aircraft, 55 lives, 88 lives, 273 lives, 346 lives. Every one of those losses traces to a CM failure that competent workforce structure would have prevented.</a:t>
            </a:r>
            <a:endParaRPr lang="en-US" sz="1400" dirty="0"/>
          </a:p>
        </p:txBody>
      </p:sp>
      <p:sp>
        <p:nvSpPr>
          <p:cNvPr id="11" name="Shape 9"/>
          <p:cNvSpPr/>
          <p:nvPr/>
        </p:nvSpPr>
        <p:spPr>
          <a:xfrm>
            <a:off x="914400" y="5852160"/>
            <a:ext cx="10515600" cy="640080"/>
          </a:xfrm>
          <a:prstGeom prst="rect">
            <a:avLst/>
          </a:prstGeom>
          <a:solidFill>
            <a:srgbClr val="C00000"/>
          </a:solidFill>
          <a:ln w="12700">
            <a:solidFill>
              <a:srgbClr val="C00000"/>
            </a:solidFill>
            <a:prstDash val="solid"/>
          </a:ln>
        </p:spPr>
      </p:sp>
      <p:sp>
        <p:nvSpPr>
          <p:cNvPr id="12" name="Text 10"/>
          <p:cNvSpPr/>
          <p:nvPr/>
        </p:nvSpPr>
        <p:spPr>
          <a:xfrm>
            <a:off x="1097280" y="5852160"/>
            <a:ext cx="10332720" cy="6400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We are asking for: </a:t>
            </a:r>
            <a:pPr indent="0" marL="0">
              <a:buNone/>
            </a:pPr>
            <a:r>
              <a:rPr lang="en-US" sz="1300" dirty="0">
                <a:solidFill>
                  <a:srgbClr val="FFFFFF"/>
                </a:solidFill>
                <a:latin typeface="Calibri" pitchFamily="34" charset="0"/>
                <a:ea typeface="Calibri" pitchFamily="34" charset="-122"/>
                <a:cs typeface="Calibri" pitchFamily="34" charset="-120"/>
              </a:rPr>
              <a:t>approval of the four-tier CM workforce model, updated HR position descriptions, and authorization to acquire a CSA tool.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 Workforce Competency Analysis</dc:title>
  <dc:subject>PptxGenJS Presentation</dc:subject>
  <dc:creator>CM Workforce Analysis</dc:creator>
  <cp:lastModifiedBy>CM Workforce Analysis</cp:lastModifiedBy>
  <cp:revision>1</cp:revision>
  <dcterms:created xsi:type="dcterms:W3CDTF">2026-05-24T01:23:16Z</dcterms:created>
  <dcterms:modified xsi:type="dcterms:W3CDTF">2026-05-24T01:23:16Z</dcterms:modified>
</cp:coreProperties>
</file>